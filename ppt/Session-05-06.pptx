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handoutMasterIdLst>
    <p:handoutMasterId r:id="rId43"/>
  </p:handoutMasterIdLst>
  <p:sldIdLst>
    <p:sldId id="354" r:id="rId2"/>
    <p:sldId id="318" r:id="rId3"/>
    <p:sldId id="317" r:id="rId4"/>
    <p:sldId id="319" r:id="rId5"/>
    <p:sldId id="342" r:id="rId6"/>
    <p:sldId id="343" r:id="rId7"/>
    <p:sldId id="344" r:id="rId8"/>
    <p:sldId id="345" r:id="rId9"/>
    <p:sldId id="346" r:id="rId10"/>
    <p:sldId id="348" r:id="rId11"/>
    <p:sldId id="349" r:id="rId12"/>
    <p:sldId id="350" r:id="rId13"/>
    <p:sldId id="351" r:id="rId14"/>
    <p:sldId id="352" r:id="rId15"/>
    <p:sldId id="353" r:id="rId16"/>
    <p:sldId id="316" r:id="rId17"/>
    <p:sldId id="358" r:id="rId18"/>
    <p:sldId id="359" r:id="rId19"/>
    <p:sldId id="357" r:id="rId20"/>
    <p:sldId id="304" r:id="rId21"/>
    <p:sldId id="306" r:id="rId22"/>
    <p:sldId id="307" r:id="rId23"/>
    <p:sldId id="308" r:id="rId24"/>
    <p:sldId id="310" r:id="rId25"/>
    <p:sldId id="309" r:id="rId26"/>
    <p:sldId id="311" r:id="rId27"/>
    <p:sldId id="293" r:id="rId28"/>
    <p:sldId id="299" r:id="rId29"/>
    <p:sldId id="298" r:id="rId30"/>
    <p:sldId id="294" r:id="rId31"/>
    <p:sldId id="295" r:id="rId32"/>
    <p:sldId id="312" r:id="rId33"/>
    <p:sldId id="313" r:id="rId34"/>
    <p:sldId id="296" r:id="rId35"/>
    <p:sldId id="314" r:id="rId36"/>
    <p:sldId id="297" r:id="rId37"/>
    <p:sldId id="355" r:id="rId38"/>
    <p:sldId id="356" r:id="rId39"/>
    <p:sldId id="315" r:id="rId40"/>
    <p:sldId id="300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69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 autoAdjust="0"/>
  </p:normalViewPr>
  <p:slideViewPr>
    <p:cSldViewPr snapToGrid="0">
      <p:cViewPr varScale="1">
        <p:scale>
          <a:sx n="111" d="100"/>
          <a:sy n="111" d="100"/>
        </p:scale>
        <p:origin x="594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F9E3336-A505-459E-8E03-DC2286A57BD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9637A4-BF03-41BA-929A-34BAD09B93C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72DE5C-7B03-4659-89AA-40A9BF92DB08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D8E878-384C-4024-B5AD-5B363ACC29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82D2C9-19F7-4861-A339-4E98377C702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89C74B-7FCA-4BDB-B64E-964971893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473967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F7FF29-2EE4-4F41-A5BA-854A50675B30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75EDDB-747F-4FD7-9E4F-29873C1859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982754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4C3A67-9F0B-42D2-9429-B440532AFB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EE7FE8F-6623-4C67-B4B2-F8E79ABFEB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7073" y="65763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0C061-FCD7-4E5E-A02A-3F2A15E03A91}" type="slidenum">
              <a:rPr lang="en-IN" smtClean="0"/>
              <a:t>‹#›</a:t>
            </a:fld>
            <a:endParaRPr lang="en-IN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DF7A65B-4F60-416C-BABE-DEE295E77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01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5413B-541C-46EC-B7C7-D7D2EFE08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9D169-BA10-4F97-8CF0-8C8038AA15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F33DDBA-62C7-4E06-81A3-8330C9B177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7073" y="65763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0C061-FCD7-4E5E-A02A-3F2A15E03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72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0DB05-A086-4599-9718-2BE5A8501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2D030A-373A-4D61-8E96-81AEEEE73F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EC54B75-5929-46E5-81D4-9D38C76A4F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7073" y="65763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0C061-FCD7-4E5E-A02A-3F2A15E03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6519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2E42B-FDDE-4FB6-81D1-803E075F8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EF01F-CFA9-4698-84FA-2196FC6810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BDCB14-59C4-4FC4-B05F-E68D8A01F0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63149D-D234-4152-9A3F-9607324E1C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7073" y="65763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0C061-FCD7-4E5E-A02A-3F2A15E03A91}" type="slidenum">
              <a:rPr lang="en-IN" smtClean="0"/>
              <a:t>‹#›</a:t>
            </a:fld>
            <a:endParaRPr lang="en-IN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5645F36-4829-4E4D-B978-DB2EB081F561}"/>
              </a:ext>
            </a:extLst>
          </p:cNvPr>
          <p:cNvSpPr txBox="1">
            <a:spLocks/>
          </p:cNvSpPr>
          <p:nvPr userDrawn="1"/>
        </p:nvSpPr>
        <p:spPr>
          <a:xfrm>
            <a:off x="9289473" y="67287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450C061-FCD7-4E5E-A02A-3F2A15E03A9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9002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E6462-1D3E-48CC-AA9E-723192177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025E76-3DA7-44D3-91A9-270F1704E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1C927A-49EC-4428-8707-F25779514B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53779D-2B47-46E1-9133-4EEA6F06CC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4F048B-28DE-4BA8-8BE6-523A7A5819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68E6367-51F3-4F84-BAE9-54D89385F1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137073" y="65763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0C061-FCD7-4E5E-A02A-3F2A15E03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407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8CEA3-0CAB-4622-A168-D5165DB87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F713C18-3C63-4F9B-B4D3-D64159F0F0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7073" y="65763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0C061-FCD7-4E5E-A02A-3F2A15E03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5502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AF25AE4-F0CF-4AAC-AAC1-E906C3917A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7073" y="65763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0C061-FCD7-4E5E-A02A-3F2A15E03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484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0CD92-EF4D-4E69-952F-BD510571D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0F646-3090-4B2F-BB27-D26490B373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7D3FE6-B636-41C0-909E-8A178D4F1E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CF003-8F43-4583-B02A-A2A8130D0F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7073" y="65763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0C061-FCD7-4E5E-A02A-3F2A15E03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4319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5309A-703A-4966-B9B6-28290269E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1563B9-D48D-437C-9B01-69C9F8FA20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BF2BD4-D7C5-4A57-AB55-71EE4B1F6B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D5A60E-6F2E-465F-86F1-B23B340140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7073" y="65763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0C061-FCD7-4E5E-A02A-3F2A15E03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1840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2CED6-100C-4D69-8887-7E5202C3C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EEADFA-F74C-4964-8024-7AB29728F9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07C846D-89CD-4A77-BCCC-0FC4081A15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7073" y="65763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0C061-FCD7-4E5E-A02A-3F2A15E03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9145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078C7F-C988-417B-BD0E-5BD9B53038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011752-9051-4514-819C-1C1329393E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A53B367-E15F-454E-B63E-48F7698ACB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7073" y="65763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0C061-FCD7-4E5E-A02A-3F2A15E03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2890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261068-615C-4652-9466-5E82A71D9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1072"/>
            <a:ext cx="10515600" cy="115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D9C32A-A76D-4CC4-AF53-1609D9766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8E34F3C-BC6A-48EC-B4DC-C8A13F68DB8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504026" y="42936"/>
            <a:ext cx="600889" cy="427006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5AF5A7C-CAC5-4698-B700-63ECF741EC9B}"/>
              </a:ext>
            </a:extLst>
          </p:cNvPr>
          <p:cNvCxnSpPr>
            <a:cxnSpLocks/>
          </p:cNvCxnSpPr>
          <p:nvPr userDrawn="1"/>
        </p:nvCxnSpPr>
        <p:spPr>
          <a:xfrm>
            <a:off x="191007" y="281693"/>
            <a:ext cx="11335778" cy="0"/>
          </a:xfrm>
          <a:prstGeom prst="line">
            <a:avLst/>
          </a:prstGeom>
          <a:ln w="28575">
            <a:solidFill>
              <a:srgbClr val="0369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E7B5CFC-076B-4B96-A036-69C797C98B9D}"/>
              </a:ext>
            </a:extLst>
          </p:cNvPr>
          <p:cNvCxnSpPr>
            <a:cxnSpLocks/>
          </p:cNvCxnSpPr>
          <p:nvPr userDrawn="1"/>
        </p:nvCxnSpPr>
        <p:spPr>
          <a:xfrm>
            <a:off x="191007" y="6601560"/>
            <a:ext cx="11818113" cy="0"/>
          </a:xfrm>
          <a:prstGeom prst="line">
            <a:avLst/>
          </a:prstGeom>
          <a:ln w="28575">
            <a:solidFill>
              <a:srgbClr val="0369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CD0074A-D602-4190-91FB-6A146F2CD905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1747865" y="5904408"/>
            <a:ext cx="1" cy="783772"/>
          </a:xfrm>
          <a:prstGeom prst="line">
            <a:avLst/>
          </a:prstGeom>
          <a:ln w="9525">
            <a:solidFill>
              <a:srgbClr val="0369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1CC6BAF-0171-4CAF-B9A2-41EA866ED5B7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1804471" y="6204854"/>
            <a:ext cx="1" cy="483326"/>
          </a:xfrm>
          <a:prstGeom prst="line">
            <a:avLst/>
          </a:prstGeom>
          <a:ln w="9525">
            <a:solidFill>
              <a:srgbClr val="0369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D9C4DEF-AE83-44BD-ACF7-FB217F67228F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78963" y="204198"/>
            <a:ext cx="1" cy="783772"/>
          </a:xfrm>
          <a:prstGeom prst="line">
            <a:avLst/>
          </a:prstGeom>
          <a:ln w="9525">
            <a:solidFill>
              <a:srgbClr val="0369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3A3BC15-7E19-4093-A978-B720615129F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32161" y="204198"/>
            <a:ext cx="1" cy="483326"/>
          </a:xfrm>
          <a:prstGeom prst="line">
            <a:avLst/>
          </a:prstGeom>
          <a:ln w="9525">
            <a:solidFill>
              <a:srgbClr val="0369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7F11D-79F1-4ECD-AED7-6C4C12C7F5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7073" y="65763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0C061-FCD7-4E5E-A02A-3F2A15E03A91}" type="slidenum">
              <a:rPr lang="en-IN" smtClean="0"/>
              <a:t>‹#›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BCFA5F-A5A6-4E8D-868D-48E97050F192}"/>
              </a:ext>
            </a:extLst>
          </p:cNvPr>
          <p:cNvSpPr txBox="1"/>
          <p:nvPr userDrawn="1"/>
        </p:nvSpPr>
        <p:spPr>
          <a:xfrm>
            <a:off x="311727" y="6572100"/>
            <a:ext cx="16667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© C-DAC Bangalore</a:t>
            </a:r>
            <a:endParaRPr lang="en-IN" sz="1400" dirty="0">
              <a:solidFill>
                <a:schemeClr val="bg1">
                  <a:lumMod val="5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41329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35EFC91-FA16-4584-9345-5DA4DE2D53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80910"/>
            <a:ext cx="9144000" cy="588078"/>
          </a:xfrm>
        </p:spPr>
        <p:txBody>
          <a:bodyPr>
            <a:normAutofit fontScale="62500" lnSpcReduction="20000"/>
          </a:bodyPr>
          <a:lstStyle/>
          <a:p>
            <a:r>
              <a:rPr lang="en-IN" dirty="0"/>
              <a:t>Post Graduate Diploma in Advanced Computing (PG-DAC)</a:t>
            </a:r>
          </a:p>
          <a:p>
            <a:r>
              <a:rPr lang="en-IN" dirty="0"/>
              <a:t>ACTS, C-DAC Bangalore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9B086A-2E5C-42A0-BA16-C4A70A56A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1</a:t>
            </a:fld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633CAF-AE04-4404-A053-CA6B82634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1071"/>
            <a:ext cx="10515600" cy="2637917"/>
          </a:xfrm>
        </p:spPr>
        <p:txBody>
          <a:bodyPr/>
          <a:lstStyle/>
          <a:p>
            <a:pPr algn="ctr"/>
            <a:r>
              <a:rPr lang="en-US" dirty="0"/>
              <a:t>C++ Programming</a:t>
            </a:r>
            <a:endParaRPr lang="en-IN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CB213A7-E6AF-4581-8DC3-DFCEBE3EC309}"/>
              </a:ext>
            </a:extLst>
          </p:cNvPr>
          <p:cNvSpPr txBox="1">
            <a:spLocks/>
          </p:cNvSpPr>
          <p:nvPr/>
        </p:nvSpPr>
        <p:spPr>
          <a:xfrm>
            <a:off x="735624" y="3990530"/>
            <a:ext cx="1532792" cy="28253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400" b="1" dirty="0"/>
              <a:t>Topics Covered:</a:t>
            </a:r>
            <a:endParaRPr lang="en-IN" b="1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EFCF182E-8484-41BA-B88C-B70F4394ECE3}"/>
              </a:ext>
            </a:extLst>
          </p:cNvPr>
          <p:cNvSpPr txBox="1">
            <a:spLocks/>
          </p:cNvSpPr>
          <p:nvPr/>
        </p:nvSpPr>
        <p:spPr>
          <a:xfrm>
            <a:off x="735624" y="4448848"/>
            <a:ext cx="8760068" cy="204866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400" dirty="0"/>
              <a:t>Pointers in C++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1000" dirty="0"/>
              <a:t>Pointer Arithmetic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1000" dirty="0"/>
              <a:t>Void Pointer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1000" dirty="0"/>
              <a:t>Null Pointer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400" dirty="0"/>
              <a:t>Functions in C++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1000" dirty="0"/>
              <a:t>Categories of Function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1000" dirty="0"/>
              <a:t>Call by Value and Call by Reference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400" dirty="0"/>
              <a:t>Inline Functions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400" dirty="0"/>
              <a:t>Function Overloading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4202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0B308-B893-4202-B33F-D8F70AEB2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Types in C++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DA35C5-19C0-467B-88BC-13C40876D3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E6F70A-03DC-4ADD-9D2B-8923959F8B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1707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11498B-E4F2-49DD-96CE-826769813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3</a:t>
            </a:fld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C315910-1C86-40FF-BC8E-841BE22B1D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760" y="585739"/>
            <a:ext cx="9590251" cy="5643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936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B8D1F32-0783-43F5-8514-F0D6E439B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Pointers in C++</a:t>
            </a:r>
            <a:endParaRPr lang="en-I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45B8343-1736-42E8-80A4-753BF412D7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D33C24-74D3-4895-86AF-14C220AB31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7073" y="65763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450C061-FCD7-4E5E-A02A-3F2A15E03A91}" type="slidenum">
              <a:rPr lang="en-IN" smtClean="0"/>
              <a:pPr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7730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78C73-B3A2-4CCF-B595-A64857FB4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Pointer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81685-121B-4EDA-A924-E24FBFFD5B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065327" cy="4351338"/>
          </a:xfrm>
        </p:spPr>
        <p:txBody>
          <a:bodyPr/>
          <a:lstStyle/>
          <a:p>
            <a:r>
              <a:rPr lang="en-IN" dirty="0"/>
              <a:t>Used to store the address of another variable.</a:t>
            </a:r>
          </a:p>
          <a:p>
            <a:r>
              <a:rPr lang="en-IN" dirty="0"/>
              <a:t>Space allocated to a pointer is equal to the size of integers as it stores the address which is integer value.</a:t>
            </a:r>
          </a:p>
          <a:p>
            <a:r>
              <a:rPr lang="en-IN" dirty="0"/>
              <a:t>Pointers behave as normal variable but stores the address.</a:t>
            </a:r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1127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3E983-59B2-4D55-8EDA-A8E1AF021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Operators Associated With Pointer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D83A6-E532-4D5B-A3E9-9885712914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Reference Operator (&amp;)</a:t>
            </a:r>
          </a:p>
          <a:p>
            <a:pPr lvl="1"/>
            <a:r>
              <a:rPr lang="en-IN" dirty="0"/>
              <a:t>also referred as “address of” operator</a:t>
            </a:r>
          </a:p>
          <a:p>
            <a:pPr lvl="1"/>
            <a:r>
              <a:rPr lang="en-IN" dirty="0"/>
              <a:t>used to access the address of any variable</a:t>
            </a:r>
          </a:p>
          <a:p>
            <a:pPr lvl="1"/>
            <a:r>
              <a:rPr lang="en-IN" dirty="0"/>
              <a:t>whenever any variable is declared a memory space is allocated for the variable which has some address</a:t>
            </a:r>
          </a:p>
          <a:p>
            <a:pPr lvl="1"/>
            <a:r>
              <a:rPr lang="en-IN" dirty="0"/>
              <a:t>this address value is given by address of operator “&amp;”</a:t>
            </a:r>
          </a:p>
          <a:p>
            <a:r>
              <a:rPr lang="en-IN" dirty="0"/>
              <a:t>Dereference Operator (*)</a:t>
            </a:r>
          </a:p>
          <a:p>
            <a:pPr lvl="1"/>
            <a:r>
              <a:rPr lang="en-IN" dirty="0"/>
              <a:t>also referred to as value “at operator”</a:t>
            </a:r>
          </a:p>
          <a:p>
            <a:pPr lvl="1"/>
            <a:r>
              <a:rPr lang="en-IN" dirty="0"/>
              <a:t>used to access the value stored at a particular memory location</a:t>
            </a:r>
          </a:p>
          <a:p>
            <a:pPr lvl="1"/>
            <a:r>
              <a:rPr lang="en-IN" dirty="0"/>
              <a:t>“*” operator is the value at operator which gives the value at the memory location stored in the pointer variable</a:t>
            </a:r>
          </a:p>
        </p:txBody>
      </p:sp>
    </p:spTree>
    <p:extLst>
      <p:ext uri="{BB962C8B-B14F-4D97-AF65-F5344CB8AC3E}">
        <p14:creationId xmlns:p14="http://schemas.microsoft.com/office/powerpoint/2010/main" val="759441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56BC4-A2B3-40DF-9443-125D9C26D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Declaration &amp; Initialization of Pointer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4C67D-C094-4670-B007-EBCC4B9794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Declaration:</a:t>
            </a:r>
          </a:p>
          <a:p>
            <a:pPr marL="0" indent="0">
              <a:buNone/>
            </a:pPr>
            <a:r>
              <a:rPr lang="en-IN" dirty="0"/>
              <a:t>	int *</a:t>
            </a:r>
            <a:r>
              <a:rPr lang="en-IN" dirty="0" err="1"/>
              <a:t>ptr</a:t>
            </a:r>
            <a:r>
              <a:rPr lang="en-IN" dirty="0"/>
              <a:t>; //points to any integer variable</a:t>
            </a:r>
          </a:p>
          <a:p>
            <a:pPr marL="0" indent="0">
              <a:buNone/>
            </a:pPr>
            <a:r>
              <a:rPr lang="en-IN" dirty="0"/>
              <a:t>	//Declaration of pointer follows the usual variable creation rules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Initialization: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ptr</a:t>
            </a:r>
            <a:r>
              <a:rPr lang="en-IN" dirty="0"/>
              <a:t> = &amp;</a:t>
            </a:r>
            <a:r>
              <a:rPr lang="en-IN" dirty="0" err="1"/>
              <a:t>i</a:t>
            </a:r>
            <a:r>
              <a:rPr lang="en-IN" dirty="0"/>
              <a:t>; // where </a:t>
            </a:r>
            <a:r>
              <a:rPr lang="en-IN" dirty="0" err="1"/>
              <a:t>i</a:t>
            </a:r>
            <a:r>
              <a:rPr lang="en-IN" dirty="0"/>
              <a:t> is an integer variable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Combination of Declaration &amp; Initialization:</a:t>
            </a:r>
          </a:p>
          <a:p>
            <a:pPr marL="0" indent="0">
              <a:buNone/>
            </a:pPr>
            <a:r>
              <a:rPr lang="en-IN" dirty="0"/>
              <a:t>	int *</a:t>
            </a:r>
            <a:r>
              <a:rPr lang="en-IN" dirty="0" err="1"/>
              <a:t>ptr</a:t>
            </a:r>
            <a:r>
              <a:rPr lang="en-IN" dirty="0"/>
              <a:t> = &amp;</a:t>
            </a:r>
            <a:r>
              <a:rPr lang="en-IN" dirty="0" err="1"/>
              <a:t>i</a:t>
            </a:r>
            <a:r>
              <a:rPr lang="en-IN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908789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51C17-5523-4ACB-ABBF-D5C1FD141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Usage of Pointers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8F0E00-32B6-4426-931A-CD6C7FE39246}"/>
              </a:ext>
            </a:extLst>
          </p:cNvPr>
          <p:cNvSpPr/>
          <p:nvPr/>
        </p:nvSpPr>
        <p:spPr>
          <a:xfrm>
            <a:off x="838200" y="1457788"/>
            <a:ext cx="6096000" cy="452431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>
                <a:solidFill>
                  <a:srgbClr val="808080"/>
                </a:solidFill>
                <a:latin typeface="Consolas" panose="020B0609020204030204" pitchFamily="49" charset="0"/>
              </a:rPr>
              <a:t>#include</a:t>
            </a:r>
            <a:r>
              <a:rPr lang="en-IN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IN" dirty="0" err="1">
                <a:solidFill>
                  <a:srgbClr val="A31515"/>
                </a:solidFill>
                <a:latin typeface="Consolas" panose="020B0609020204030204" pitchFamily="49" charset="0"/>
              </a:rPr>
              <a:t>stdio.h</a:t>
            </a:r>
            <a:r>
              <a:rPr lang="en-IN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*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iptr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= 5;</a:t>
            </a:r>
          </a:p>
          <a:p>
            <a:pPr lvl="1"/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iptr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= &amp;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IN" dirty="0">
                <a:solidFill>
                  <a:srgbClr val="A31515"/>
                </a:solidFill>
                <a:latin typeface="Consolas" panose="020B0609020204030204" pitchFamily="49" charset="0"/>
              </a:rPr>
              <a:t>"\</a:t>
            </a:r>
            <a:r>
              <a:rPr lang="en-IN" dirty="0" err="1">
                <a:solidFill>
                  <a:srgbClr val="A31515"/>
                </a:solidFill>
                <a:latin typeface="Consolas" panose="020B0609020204030204" pitchFamily="49" charset="0"/>
              </a:rPr>
              <a:t>ni</a:t>
            </a:r>
            <a:r>
              <a:rPr lang="en-IN" dirty="0">
                <a:solidFill>
                  <a:srgbClr val="A31515"/>
                </a:solidFill>
                <a:latin typeface="Consolas" panose="020B0609020204030204" pitchFamily="49" charset="0"/>
              </a:rPr>
              <a:t> "&lt;&lt;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IN" dirty="0">
                <a:solidFill>
                  <a:srgbClr val="A31515"/>
                </a:solidFill>
                <a:latin typeface="Consolas" panose="020B0609020204030204" pitchFamily="49" charset="0"/>
              </a:rPr>
              <a:t>"\</a:t>
            </a:r>
            <a:r>
              <a:rPr lang="en-IN" dirty="0" err="1">
                <a:solidFill>
                  <a:srgbClr val="A31515"/>
                </a:solidFill>
                <a:latin typeface="Consolas" panose="020B0609020204030204" pitchFamily="49" charset="0"/>
              </a:rPr>
              <a:t>n&amp;i</a:t>
            </a:r>
            <a:r>
              <a:rPr lang="en-IN" dirty="0">
                <a:solidFill>
                  <a:srgbClr val="A31515"/>
                </a:solidFill>
                <a:latin typeface="Consolas" panose="020B0609020204030204" pitchFamily="49" charset="0"/>
              </a:rPr>
              <a:t> "&lt;&lt;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&amp;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IN" dirty="0">
                <a:solidFill>
                  <a:srgbClr val="A31515"/>
                </a:solidFill>
                <a:latin typeface="Consolas" panose="020B0609020204030204" pitchFamily="49" charset="0"/>
              </a:rPr>
              <a:t>"\</a:t>
            </a:r>
            <a:r>
              <a:rPr lang="en-IN" dirty="0" err="1">
                <a:solidFill>
                  <a:srgbClr val="A31515"/>
                </a:solidFill>
                <a:latin typeface="Consolas" panose="020B0609020204030204" pitchFamily="49" charset="0"/>
              </a:rPr>
              <a:t>niptr</a:t>
            </a:r>
            <a:r>
              <a:rPr lang="en-IN" dirty="0">
                <a:solidFill>
                  <a:srgbClr val="A31515"/>
                </a:solidFill>
                <a:latin typeface="Consolas" panose="020B0609020204030204" pitchFamily="49" charset="0"/>
              </a:rPr>
              <a:t> "&lt;&lt;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iptr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cout&lt;&lt;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"\n*iptr "&lt;&lt;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*iptr;</a:t>
            </a:r>
          </a:p>
          <a:p>
            <a:pPr lvl="1"/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cout&lt;&lt;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"\n&amp;iptr "&lt;&lt;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&amp;iptr;</a:t>
            </a:r>
          </a:p>
          <a:p>
            <a:endParaRPr lang="en-IN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BD45A9D-95B4-4214-9A3D-2F9469E9F331}"/>
              </a:ext>
            </a:extLst>
          </p:cNvPr>
          <p:cNvGrpSpPr/>
          <p:nvPr/>
        </p:nvGrpSpPr>
        <p:grpSpPr>
          <a:xfrm>
            <a:off x="9159239" y="3814477"/>
            <a:ext cx="823109" cy="1313543"/>
            <a:chOff x="9159239" y="3814477"/>
            <a:chExt cx="823109" cy="131354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846769B-BC77-466A-9BEC-25782BAE1488}"/>
                </a:ext>
              </a:extLst>
            </p:cNvPr>
            <p:cNvSpPr/>
            <p:nvPr/>
          </p:nvSpPr>
          <p:spPr>
            <a:xfrm>
              <a:off x="9194557" y="4081763"/>
              <a:ext cx="787791" cy="73152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-121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E59C829-10B4-4DE5-AE55-998EB1B34774}"/>
                </a:ext>
              </a:extLst>
            </p:cNvPr>
            <p:cNvSpPr txBox="1"/>
            <p:nvPr/>
          </p:nvSpPr>
          <p:spPr>
            <a:xfrm>
              <a:off x="9194557" y="3814477"/>
              <a:ext cx="5154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 err="1"/>
                <a:t>iptr</a:t>
              </a:r>
              <a:endParaRPr lang="en-IN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7F63D97-A01F-4D26-A489-B8CC38877D58}"/>
                </a:ext>
              </a:extLst>
            </p:cNvPr>
            <p:cNvSpPr txBox="1"/>
            <p:nvPr/>
          </p:nvSpPr>
          <p:spPr>
            <a:xfrm>
              <a:off x="9159239" y="4758688"/>
              <a:ext cx="6611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5000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29198C8-1C5E-4D7F-98E5-F66A30F656ED}"/>
              </a:ext>
            </a:extLst>
          </p:cNvPr>
          <p:cNvGrpSpPr/>
          <p:nvPr/>
        </p:nvGrpSpPr>
        <p:grpSpPr>
          <a:xfrm>
            <a:off x="9191977" y="1362645"/>
            <a:ext cx="787791" cy="1368138"/>
            <a:chOff x="9159239" y="1392702"/>
            <a:chExt cx="787791" cy="136813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8A78071-E44A-427D-A41D-BD5A146D9ECE}"/>
                </a:ext>
              </a:extLst>
            </p:cNvPr>
            <p:cNvSpPr txBox="1"/>
            <p:nvPr/>
          </p:nvSpPr>
          <p:spPr>
            <a:xfrm>
              <a:off x="9159240" y="1392702"/>
              <a:ext cx="2375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 err="1"/>
                <a:t>i</a:t>
              </a:r>
              <a:endParaRPr lang="en-IN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370BC19-FC3B-4F07-A075-5ACD371C5AD6}"/>
                </a:ext>
              </a:extLst>
            </p:cNvPr>
            <p:cNvSpPr txBox="1"/>
            <p:nvPr/>
          </p:nvSpPr>
          <p:spPr>
            <a:xfrm>
              <a:off x="9159240" y="2391508"/>
              <a:ext cx="6611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2000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C9E3B59-E7F0-476A-AC4B-9A2ED02188CD}"/>
                </a:ext>
              </a:extLst>
            </p:cNvPr>
            <p:cNvSpPr/>
            <p:nvPr/>
          </p:nvSpPr>
          <p:spPr>
            <a:xfrm>
              <a:off x="9159239" y="1659988"/>
              <a:ext cx="787791" cy="73152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-123</a:t>
              </a:r>
            </a:p>
          </p:txBody>
        </p:sp>
      </p:grp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40A48BE-9D2B-416B-BBC2-4BB41D148C15}"/>
              </a:ext>
            </a:extLst>
          </p:cNvPr>
          <p:cNvCxnSpPr>
            <a:cxnSpLocks/>
          </p:cNvCxnSpPr>
          <p:nvPr/>
        </p:nvCxnSpPr>
        <p:spPr>
          <a:xfrm flipV="1">
            <a:off x="9793680" y="2391509"/>
            <a:ext cx="26740" cy="170565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0C8A4C11-F5B1-4FF9-A017-42708B594878}"/>
              </a:ext>
            </a:extLst>
          </p:cNvPr>
          <p:cNvSpPr/>
          <p:nvPr/>
        </p:nvSpPr>
        <p:spPr>
          <a:xfrm>
            <a:off x="9194487" y="1631594"/>
            <a:ext cx="787791" cy="7315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D334B3C-4B1D-4A66-9C4B-181A3BB0745C}"/>
              </a:ext>
            </a:extLst>
          </p:cNvPr>
          <p:cNvSpPr/>
          <p:nvPr/>
        </p:nvSpPr>
        <p:spPr>
          <a:xfrm>
            <a:off x="9191977" y="4094681"/>
            <a:ext cx="787791" cy="7315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2000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A1BE3061-9B98-4740-9B36-DA0C44797E20}"/>
              </a:ext>
            </a:extLst>
          </p:cNvPr>
          <p:cNvSpPr/>
          <p:nvPr/>
        </p:nvSpPr>
        <p:spPr>
          <a:xfrm rot="10800000" flipV="1">
            <a:off x="2371579" y="2621707"/>
            <a:ext cx="863991" cy="201478"/>
          </a:xfrm>
          <a:prstGeom prst="rightArrow">
            <a:avLst/>
          </a:prstGeom>
          <a:ln>
            <a:solidFill>
              <a:srgbClr val="C0000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5E651F83-11CB-4FD3-8E24-C103C87F630E}"/>
              </a:ext>
            </a:extLst>
          </p:cNvPr>
          <p:cNvSpPr/>
          <p:nvPr/>
        </p:nvSpPr>
        <p:spPr>
          <a:xfrm rot="10800000" flipV="1">
            <a:off x="2803574" y="2922471"/>
            <a:ext cx="863991" cy="201478"/>
          </a:xfrm>
          <a:prstGeom prst="rightArrow">
            <a:avLst/>
          </a:prstGeom>
          <a:ln>
            <a:solidFill>
              <a:srgbClr val="C0000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47FD92D4-9A1A-4FC4-A3BE-456EEDF94EE0}"/>
              </a:ext>
            </a:extLst>
          </p:cNvPr>
          <p:cNvSpPr/>
          <p:nvPr/>
        </p:nvSpPr>
        <p:spPr>
          <a:xfrm rot="10800000" flipV="1">
            <a:off x="2371578" y="3412004"/>
            <a:ext cx="863991" cy="201478"/>
          </a:xfrm>
          <a:prstGeom prst="rightArrow">
            <a:avLst/>
          </a:prstGeom>
          <a:ln>
            <a:solidFill>
              <a:srgbClr val="C0000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38B2AF51-8587-4214-ADD7-D3218626A751}"/>
              </a:ext>
            </a:extLst>
          </p:cNvPr>
          <p:cNvSpPr/>
          <p:nvPr/>
        </p:nvSpPr>
        <p:spPr>
          <a:xfrm rot="10800000" flipV="1">
            <a:off x="2676379" y="3735656"/>
            <a:ext cx="863991" cy="201478"/>
          </a:xfrm>
          <a:prstGeom prst="rightArrow">
            <a:avLst/>
          </a:prstGeom>
          <a:ln>
            <a:solidFill>
              <a:srgbClr val="C0000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668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BC5E9-CEBF-433C-8240-47809BC49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Operations With Pointers / Pointer Arithmetic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4E04F-9BA1-4027-9C6E-B695B3AAB9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support only addition and subtraction operation for pointers</a:t>
            </a:r>
          </a:p>
          <a:p>
            <a:r>
              <a:rPr lang="en-IN" dirty="0"/>
              <a:t>Multiplication, Division, Modulus operation is not supported as the resultant address may or may not be a valid address. The difference in the resultant address and the pointer operands could be huge </a:t>
            </a:r>
            <a:r>
              <a:rPr lang="en-IN" dirty="0" err="1"/>
              <a:t>nd</a:t>
            </a:r>
            <a:r>
              <a:rPr lang="en-IN" dirty="0"/>
              <a:t> may go out of supported user space.</a:t>
            </a:r>
          </a:p>
          <a:p>
            <a:r>
              <a:rPr lang="en-IN" dirty="0"/>
              <a:t>Operation on pointer takes the size of data type pointed to in consideration.</a:t>
            </a:r>
          </a:p>
          <a:p>
            <a:r>
              <a:rPr lang="en-IN" dirty="0"/>
              <a:t>Increment and Decrement operation can also be performed as both addition and subtraction is supported in pointer</a:t>
            </a:r>
          </a:p>
        </p:txBody>
      </p:sp>
    </p:spTree>
    <p:extLst>
      <p:ext uri="{BB962C8B-B14F-4D97-AF65-F5344CB8AC3E}">
        <p14:creationId xmlns:p14="http://schemas.microsoft.com/office/powerpoint/2010/main" val="1366460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ADFA7-6544-4E46-9F30-9C9C43590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Operations With Pointers / Pointer Arithmetic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39527C-21BC-4AA5-96E6-95034C218D9C}"/>
              </a:ext>
            </a:extLst>
          </p:cNvPr>
          <p:cNvSpPr/>
          <p:nvPr/>
        </p:nvSpPr>
        <p:spPr>
          <a:xfrm>
            <a:off x="838199" y="1690688"/>
            <a:ext cx="459278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*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ip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= 2;</a:t>
            </a:r>
          </a:p>
          <a:p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ip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= &amp;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cout&lt;&lt;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"\n ip+1 = “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&lt;&lt;ip+1;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cout&lt;&lt;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"\n *ip+1 "&lt;&lt;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*ip+1;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cout&lt;&lt;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"\n *(ip+1) "&lt;&lt;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*(ip+1);</a:t>
            </a:r>
          </a:p>
          <a:p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cout&lt;&lt;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"\n *ip++ "&lt;&lt;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*ip++;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cout&lt;&lt;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"\n ++*ip "&lt;&lt;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++*ip;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7B258A1-73A4-48BD-94C4-B3D8B7C4B797}"/>
              </a:ext>
            </a:extLst>
          </p:cNvPr>
          <p:cNvCxnSpPr>
            <a:cxnSpLocks/>
            <a:stCxn id="28" idx="0"/>
          </p:cNvCxnSpPr>
          <p:nvPr/>
        </p:nvCxnSpPr>
        <p:spPr>
          <a:xfrm flipV="1">
            <a:off x="8814968" y="2586139"/>
            <a:ext cx="0" cy="15061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F9FD1B8-FB3B-477F-A8AE-67C02C2F4A89}"/>
              </a:ext>
            </a:extLst>
          </p:cNvPr>
          <p:cNvGrpSpPr/>
          <p:nvPr/>
        </p:nvGrpSpPr>
        <p:grpSpPr>
          <a:xfrm>
            <a:off x="7072744" y="1724181"/>
            <a:ext cx="4281058" cy="1177353"/>
            <a:chOff x="7072744" y="1724181"/>
            <a:chExt cx="4281058" cy="117735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2413AA9-B6B7-45AB-BF90-577911E27DD7}"/>
                </a:ext>
              </a:extLst>
            </p:cNvPr>
            <p:cNvSpPr/>
            <p:nvPr/>
          </p:nvSpPr>
          <p:spPr>
            <a:xfrm>
              <a:off x="7710054" y="2038093"/>
              <a:ext cx="609600" cy="55418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1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50076EC-12B9-4A11-A749-13E00E948884}"/>
                </a:ext>
              </a:extLst>
            </p:cNvPr>
            <p:cNvSpPr/>
            <p:nvPr/>
          </p:nvSpPr>
          <p:spPr>
            <a:xfrm>
              <a:off x="8319655" y="2038093"/>
              <a:ext cx="609600" cy="55418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2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C5A89A1-AD08-4D64-9D1D-22B5111E987D}"/>
                </a:ext>
              </a:extLst>
            </p:cNvPr>
            <p:cNvSpPr/>
            <p:nvPr/>
          </p:nvSpPr>
          <p:spPr>
            <a:xfrm>
              <a:off x="8929256" y="2038093"/>
              <a:ext cx="609600" cy="55418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3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A0E68F8-C679-4B47-8CBD-F418DE6E7CCD}"/>
                </a:ext>
              </a:extLst>
            </p:cNvPr>
            <p:cNvSpPr/>
            <p:nvPr/>
          </p:nvSpPr>
          <p:spPr>
            <a:xfrm>
              <a:off x="9538856" y="2038093"/>
              <a:ext cx="609600" cy="55418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4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EEE43DE-EFCE-4819-928D-2663FCA4F61C}"/>
                </a:ext>
              </a:extLst>
            </p:cNvPr>
            <p:cNvSpPr/>
            <p:nvPr/>
          </p:nvSpPr>
          <p:spPr>
            <a:xfrm>
              <a:off x="10148456" y="2038093"/>
              <a:ext cx="609600" cy="55418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5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C64D962-1303-432D-B625-60A5E8F6A9DA}"/>
                </a:ext>
              </a:extLst>
            </p:cNvPr>
            <p:cNvSpPr txBox="1"/>
            <p:nvPr/>
          </p:nvSpPr>
          <p:spPr>
            <a:xfrm>
              <a:off x="7737763" y="2592276"/>
              <a:ext cx="58189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b="1" dirty="0"/>
                <a:t>2000</a:t>
              </a:r>
              <a:endParaRPr lang="en-IN" b="1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4ACB9DC-163B-4958-88DD-EFDC4C69CDBA}"/>
                </a:ext>
              </a:extLst>
            </p:cNvPr>
            <p:cNvSpPr txBox="1"/>
            <p:nvPr/>
          </p:nvSpPr>
          <p:spPr>
            <a:xfrm>
              <a:off x="8319654" y="2592276"/>
              <a:ext cx="58189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b="1" dirty="0"/>
                <a:t>2004</a:t>
              </a:r>
              <a:endParaRPr lang="en-IN" b="1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4FF193D-0453-4E46-B00F-70A890BF7A3E}"/>
                </a:ext>
              </a:extLst>
            </p:cNvPr>
            <p:cNvSpPr txBox="1"/>
            <p:nvPr/>
          </p:nvSpPr>
          <p:spPr>
            <a:xfrm>
              <a:off x="7072744" y="2592275"/>
              <a:ext cx="58189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b="1" dirty="0">
                  <a:solidFill>
                    <a:schemeClr val="bg2">
                      <a:lumMod val="75000"/>
                    </a:schemeClr>
                  </a:solidFill>
                </a:rPr>
                <a:t>1996</a:t>
              </a:r>
              <a:endParaRPr lang="en-IN" b="1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9E22090-7CDF-4F26-9E40-EE443F72F4FB}"/>
                </a:ext>
              </a:extLst>
            </p:cNvPr>
            <p:cNvSpPr txBox="1"/>
            <p:nvPr/>
          </p:nvSpPr>
          <p:spPr>
            <a:xfrm>
              <a:off x="8915400" y="2592274"/>
              <a:ext cx="58189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b="1" dirty="0"/>
                <a:t>2008</a:t>
              </a:r>
              <a:endParaRPr lang="en-IN" b="1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2CB3381-7C0D-4DF9-AE04-E7FFA43D8979}"/>
                </a:ext>
              </a:extLst>
            </p:cNvPr>
            <p:cNvSpPr txBox="1"/>
            <p:nvPr/>
          </p:nvSpPr>
          <p:spPr>
            <a:xfrm>
              <a:off x="9538855" y="2593757"/>
              <a:ext cx="58189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b="1" dirty="0"/>
                <a:t>2012</a:t>
              </a:r>
              <a:endParaRPr lang="en-IN" b="1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67E25A1-DBBE-4C4A-9CFD-01A1E8B14B1E}"/>
                </a:ext>
              </a:extLst>
            </p:cNvPr>
            <p:cNvSpPr txBox="1"/>
            <p:nvPr/>
          </p:nvSpPr>
          <p:spPr>
            <a:xfrm>
              <a:off x="10148455" y="2593757"/>
              <a:ext cx="58189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b="1" dirty="0"/>
                <a:t>2016</a:t>
              </a:r>
              <a:endParaRPr lang="en-IN" b="1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B2D4F68-8CB3-4A20-8856-43F0E83FFED9}"/>
                </a:ext>
              </a:extLst>
            </p:cNvPr>
            <p:cNvSpPr txBox="1"/>
            <p:nvPr/>
          </p:nvSpPr>
          <p:spPr>
            <a:xfrm>
              <a:off x="10771910" y="2592274"/>
              <a:ext cx="58189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b="1" dirty="0">
                  <a:solidFill>
                    <a:schemeClr val="bg1">
                      <a:lumMod val="75000"/>
                    </a:schemeClr>
                  </a:solidFill>
                </a:rPr>
                <a:t>2020</a:t>
              </a:r>
              <a:endParaRPr lang="en-IN" b="1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300C955-8AF6-45C8-93C9-A515266A48C2}"/>
                </a:ext>
              </a:extLst>
            </p:cNvPr>
            <p:cNvSpPr txBox="1"/>
            <p:nvPr/>
          </p:nvSpPr>
          <p:spPr>
            <a:xfrm>
              <a:off x="8361217" y="1724181"/>
              <a:ext cx="56803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b="1" dirty="0" err="1"/>
                <a:t>i</a:t>
              </a:r>
              <a:endParaRPr lang="en-IN" sz="1400" b="1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FF892E2-EE59-40AD-8549-796399B02929}"/>
                </a:ext>
              </a:extLst>
            </p:cNvPr>
            <p:cNvSpPr/>
            <p:nvPr/>
          </p:nvSpPr>
          <p:spPr>
            <a:xfrm>
              <a:off x="7169727" y="2039676"/>
              <a:ext cx="526472" cy="55418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/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42F0226-FE93-4B08-BAE0-9CA4D45DDD66}"/>
                </a:ext>
              </a:extLst>
            </p:cNvPr>
            <p:cNvSpPr/>
            <p:nvPr/>
          </p:nvSpPr>
          <p:spPr>
            <a:xfrm>
              <a:off x="10771909" y="2035210"/>
              <a:ext cx="526475" cy="550929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/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37BDC3E-86EE-4836-8538-9454FBDC02B1}"/>
              </a:ext>
            </a:extLst>
          </p:cNvPr>
          <p:cNvGrpSpPr/>
          <p:nvPr/>
        </p:nvGrpSpPr>
        <p:grpSpPr>
          <a:xfrm>
            <a:off x="8330445" y="3801639"/>
            <a:ext cx="862060" cy="1154049"/>
            <a:chOff x="7589213" y="3084902"/>
            <a:chExt cx="862060" cy="1154049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A83F0D7-65C8-4ED1-8B23-1356C7F24837}"/>
                </a:ext>
              </a:extLst>
            </p:cNvPr>
            <p:cNvSpPr txBox="1"/>
            <p:nvPr/>
          </p:nvSpPr>
          <p:spPr>
            <a:xfrm>
              <a:off x="7589213" y="3084902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b="1" dirty="0" err="1"/>
                <a:t>ip</a:t>
              </a:r>
              <a:endParaRPr lang="en-IN" b="1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5B99C2A-CD5D-4DE5-AA5E-9545E18B2C7B}"/>
                </a:ext>
              </a:extLst>
            </p:cNvPr>
            <p:cNvSpPr/>
            <p:nvPr/>
          </p:nvSpPr>
          <p:spPr>
            <a:xfrm>
              <a:off x="7696198" y="3375510"/>
              <a:ext cx="755075" cy="55418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2000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62B0F55-06E6-4B0A-AE2C-3F879E4FBECC}"/>
                </a:ext>
              </a:extLst>
            </p:cNvPr>
            <p:cNvSpPr txBox="1"/>
            <p:nvPr/>
          </p:nvSpPr>
          <p:spPr>
            <a:xfrm>
              <a:off x="7696198" y="3931174"/>
              <a:ext cx="58189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b="1" dirty="0"/>
                <a:t>5000</a:t>
              </a:r>
              <a:endParaRPr lang="en-IN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3368569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E0DBB-1F0E-401B-A1E5-18397D3F7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Uses of Pointers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E707C-8C23-448A-B45E-74886C549B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For call by reference operation in function</a:t>
            </a:r>
          </a:p>
          <a:p>
            <a:r>
              <a:rPr lang="en-IN" dirty="0"/>
              <a:t>For accessing array elements</a:t>
            </a:r>
          </a:p>
          <a:p>
            <a:r>
              <a:rPr lang="en-IN" dirty="0"/>
              <a:t>To return multiple values from function</a:t>
            </a:r>
          </a:p>
          <a:p>
            <a:r>
              <a:rPr lang="en-IN" dirty="0"/>
              <a:t>For dynamic memory allocation</a:t>
            </a:r>
          </a:p>
          <a:p>
            <a:r>
              <a:rPr lang="en-IN" dirty="0"/>
              <a:t>For implementing certain data structures like linked list.</a:t>
            </a:r>
          </a:p>
        </p:txBody>
      </p:sp>
    </p:spTree>
    <p:extLst>
      <p:ext uri="{BB962C8B-B14F-4D97-AF65-F5344CB8AC3E}">
        <p14:creationId xmlns:p14="http://schemas.microsoft.com/office/powerpoint/2010/main" val="39058983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AE390-59FA-40EB-B2D0-34C13CFF2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Void Pointer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9B20AF-9BFB-4EB9-9C99-F5A3A78DBC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US" dirty="0"/>
              <a:t>A void pointer is a pointer that has no associated data type with it. </a:t>
            </a:r>
          </a:p>
          <a:p>
            <a:endParaRPr lang="en-US" dirty="0"/>
          </a:p>
          <a:p>
            <a:r>
              <a:rPr lang="en-US" dirty="0"/>
              <a:t>can hold address of any type </a:t>
            </a:r>
          </a:p>
          <a:p>
            <a:endParaRPr lang="en-US" dirty="0"/>
          </a:p>
          <a:p>
            <a:r>
              <a:rPr lang="en-US" dirty="0"/>
              <a:t>has to be type-casted to the type of variable its going to point to. 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CF9C2C-D316-4B82-8389-9AFC45BF5E33}"/>
              </a:ext>
            </a:extLst>
          </p:cNvPr>
          <p:cNvSpPr/>
          <p:nvPr/>
        </p:nvSpPr>
        <p:spPr>
          <a:xfrm>
            <a:off x="7578436" y="2108583"/>
            <a:ext cx="419792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808080"/>
                </a:solidFill>
                <a:latin typeface="Consolas" panose="020B0609020204030204" pitchFamily="49" charset="0"/>
              </a:rPr>
              <a:t>#include</a:t>
            </a:r>
            <a:r>
              <a:rPr lang="en-IN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IN" dirty="0" err="1">
                <a:solidFill>
                  <a:srgbClr val="A31515"/>
                </a:solidFill>
                <a:latin typeface="Consolas" panose="020B0609020204030204" pitchFamily="49" charset="0"/>
              </a:rPr>
              <a:t>stdio.h</a:t>
            </a:r>
            <a:r>
              <a:rPr lang="en-IN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a = 10;</a:t>
            </a:r>
          </a:p>
          <a:p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*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ptr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= &amp;a;</a:t>
            </a:r>
          </a:p>
          <a:p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&lt;&lt;*(</a:t>
            </a:r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*)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ptr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IN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7A63CCF-87B1-49A1-9280-2EA412F531AF}"/>
              </a:ext>
            </a:extLst>
          </p:cNvPr>
          <p:cNvCxnSpPr/>
          <p:nvPr/>
        </p:nvCxnSpPr>
        <p:spPr>
          <a:xfrm>
            <a:off x="6733309" y="1066800"/>
            <a:ext cx="0" cy="5110163"/>
          </a:xfrm>
          <a:prstGeom prst="line">
            <a:avLst/>
          </a:prstGeom>
          <a:ln w="2857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02042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056E6-05F5-44AC-B267-F9278A08B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Void Pointer : Uses &amp;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17CD1-3F06-42AC-A02B-C5FB32E445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Uses:</a:t>
            </a:r>
          </a:p>
          <a:p>
            <a:pPr lvl="1"/>
            <a:r>
              <a:rPr lang="en-IN" dirty="0"/>
              <a:t>in case of dynamic memory allocation</a:t>
            </a:r>
          </a:p>
          <a:p>
            <a:pPr lvl="1"/>
            <a:r>
              <a:rPr lang="en-IN" dirty="0"/>
              <a:t>for implementation of generic functions like a function of sort that can perform sorting either in ascending or descending order</a:t>
            </a:r>
          </a:p>
          <a:p>
            <a:pPr lvl="1"/>
            <a:endParaRPr lang="en-IN" dirty="0"/>
          </a:p>
          <a:p>
            <a:r>
              <a:rPr lang="en-IN" dirty="0"/>
              <a:t>Limitations:</a:t>
            </a:r>
          </a:p>
          <a:p>
            <a:pPr lvl="1"/>
            <a:r>
              <a:rPr lang="en-IN" dirty="0"/>
              <a:t>Pointer Arithmetic is not possible with void pointers due to size constraint</a:t>
            </a:r>
          </a:p>
          <a:p>
            <a:pPr lvl="1"/>
            <a:r>
              <a:rPr lang="en-IN" dirty="0"/>
              <a:t>It can’t be dereferenced (*</a:t>
            </a:r>
            <a:r>
              <a:rPr lang="en-IN" dirty="0" err="1"/>
              <a:t>ptr</a:t>
            </a:r>
            <a:r>
              <a:rPr lang="en-IN" dirty="0"/>
              <a:t> is not possible with void *</a:t>
            </a:r>
            <a:r>
              <a:rPr lang="en-IN" dirty="0" err="1"/>
              <a:t>ptr</a:t>
            </a: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37832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78324-BEB7-4431-BE95-51C4CB721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NULL Pointer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73B4E5-259D-4071-93AE-C6D22F9CE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NULL is a constant value equivalent to ‘0’ or ‘\0’</a:t>
            </a:r>
          </a:p>
          <a:p>
            <a:endParaRPr lang="en-IN" dirty="0"/>
          </a:p>
          <a:p>
            <a:r>
              <a:rPr lang="en-IN" dirty="0"/>
              <a:t>NULL Pointer refers to a fixed location that has the value of NULL</a:t>
            </a:r>
          </a:p>
          <a:p>
            <a:r>
              <a:rPr lang="en-IN" dirty="0"/>
              <a:t>NULL Pointers are used for specific purposes.</a:t>
            </a:r>
          </a:p>
          <a:p>
            <a:r>
              <a:rPr lang="en-IN" dirty="0"/>
              <a:t>Any pointer created should ideally be pointing to either a valid address or pointing to NULL otherwise it can generate the dangling pointer (pointer that does not refer to valid location)</a:t>
            </a:r>
          </a:p>
        </p:txBody>
      </p:sp>
    </p:spTree>
    <p:extLst>
      <p:ext uri="{BB962C8B-B14F-4D97-AF65-F5344CB8AC3E}">
        <p14:creationId xmlns:p14="http://schemas.microsoft.com/office/powerpoint/2010/main" val="9562947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A1D66-550C-47B5-9F10-3A93BB736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NULL Pointer : Uses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6E9F9-FC45-4F1E-80AA-35F51BC7B2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219" y="1825625"/>
            <a:ext cx="6670964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To initialize a pointer variable when that pointer variable isn’t assigned any valid memory address yet.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To check for a null pointer before accessing any pointer variable. By doing so, we can perform error handling in pointer related code e.g. dereference pointer variable only if it’s not NULL.</a:t>
            </a:r>
          </a:p>
          <a:p>
            <a:endParaRPr lang="en-US" dirty="0"/>
          </a:p>
          <a:p>
            <a:r>
              <a:rPr lang="en-US" dirty="0"/>
              <a:t>To pass a null pointer to a function argument when we don’t want to pass any valid memory address.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1A8837-244D-4451-A631-F3D53403F72E}"/>
              </a:ext>
            </a:extLst>
          </p:cNvPr>
          <p:cNvSpPr/>
          <p:nvPr/>
        </p:nvSpPr>
        <p:spPr>
          <a:xfrm>
            <a:off x="7744700" y="1913582"/>
            <a:ext cx="18603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int * </a:t>
            </a:r>
            <a:r>
              <a:rPr lang="en-IN" dirty="0" err="1"/>
              <a:t>pInt</a:t>
            </a:r>
            <a:r>
              <a:rPr lang="en-IN" dirty="0"/>
              <a:t> = NULL;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AD8416-A549-4570-8C48-2FC860C9DAEA}"/>
              </a:ext>
            </a:extLst>
          </p:cNvPr>
          <p:cNvSpPr/>
          <p:nvPr/>
        </p:nvSpPr>
        <p:spPr>
          <a:xfrm>
            <a:off x="7744700" y="3034120"/>
            <a:ext cx="468283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if(</a:t>
            </a:r>
            <a:r>
              <a:rPr lang="en-IN" dirty="0" err="1"/>
              <a:t>pInt</a:t>
            </a:r>
            <a:r>
              <a:rPr lang="en-IN" dirty="0"/>
              <a:t> != NULL) //We could use if(</a:t>
            </a:r>
            <a:r>
              <a:rPr lang="en-IN" dirty="0" err="1"/>
              <a:t>pInt</a:t>
            </a:r>
            <a:r>
              <a:rPr lang="en-IN" dirty="0"/>
              <a:t>) as well</a:t>
            </a:r>
          </a:p>
          <a:p>
            <a:pPr lvl="1"/>
            <a:r>
              <a:rPr lang="en-IN" dirty="0"/>
              <a:t>{ /*Some code*/} </a:t>
            </a:r>
          </a:p>
          <a:p>
            <a:r>
              <a:rPr lang="en-IN" dirty="0"/>
              <a:t>else</a:t>
            </a:r>
          </a:p>
          <a:p>
            <a:pPr lvl="1"/>
            <a:r>
              <a:rPr lang="en-IN" dirty="0"/>
              <a:t>{ /*Some code*/}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BE94AC-8375-41EB-9BB8-66F0FDB0B9DE}"/>
              </a:ext>
            </a:extLst>
          </p:cNvPr>
          <p:cNvSpPr/>
          <p:nvPr/>
        </p:nvSpPr>
        <p:spPr>
          <a:xfrm>
            <a:off x="7744700" y="4562218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/>
              <a:t>int fun(int *</a:t>
            </a:r>
            <a:r>
              <a:rPr lang="en-IN" dirty="0" err="1"/>
              <a:t>ptr</a:t>
            </a:r>
            <a:r>
              <a:rPr lang="en-IN" dirty="0"/>
              <a:t>) </a:t>
            </a:r>
          </a:p>
          <a:p>
            <a:r>
              <a:rPr lang="en-IN" dirty="0"/>
              <a:t>{ </a:t>
            </a:r>
          </a:p>
          <a:p>
            <a:pPr lvl="1"/>
            <a:r>
              <a:rPr lang="en-IN" dirty="0"/>
              <a:t>//statements in function fun</a:t>
            </a:r>
          </a:p>
          <a:p>
            <a:pPr lvl="1"/>
            <a:r>
              <a:rPr lang="en-IN" dirty="0"/>
              <a:t>return 10; </a:t>
            </a:r>
          </a:p>
          <a:p>
            <a:r>
              <a:rPr lang="en-IN" dirty="0"/>
              <a:t>} </a:t>
            </a:r>
          </a:p>
          <a:p>
            <a:endParaRPr lang="en-IN" dirty="0"/>
          </a:p>
          <a:p>
            <a:r>
              <a:rPr lang="en-IN" dirty="0"/>
              <a:t>fun(NULL);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C5F02-03EB-4452-BF57-24E2E2C65119}"/>
              </a:ext>
            </a:extLst>
          </p:cNvPr>
          <p:cNvCxnSpPr/>
          <p:nvPr/>
        </p:nvCxnSpPr>
        <p:spPr>
          <a:xfrm>
            <a:off x="7744700" y="2660073"/>
            <a:ext cx="4447300" cy="0"/>
          </a:xfrm>
          <a:prstGeom prst="line">
            <a:avLst/>
          </a:prstGeom>
          <a:ln w="2857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F3624FB-D6DE-44EE-B6DF-13D42DB45EB9}"/>
              </a:ext>
            </a:extLst>
          </p:cNvPr>
          <p:cNvCxnSpPr/>
          <p:nvPr/>
        </p:nvCxnSpPr>
        <p:spPr>
          <a:xfrm>
            <a:off x="7730855" y="4534509"/>
            <a:ext cx="4447300" cy="0"/>
          </a:xfrm>
          <a:prstGeom prst="line">
            <a:avLst/>
          </a:prstGeom>
          <a:ln w="2857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7459E4D-8C70-426A-B2D9-C25B3E718A87}"/>
              </a:ext>
            </a:extLst>
          </p:cNvPr>
          <p:cNvCxnSpPr/>
          <p:nvPr/>
        </p:nvCxnSpPr>
        <p:spPr>
          <a:xfrm>
            <a:off x="7467601" y="1483380"/>
            <a:ext cx="0" cy="5110163"/>
          </a:xfrm>
          <a:prstGeom prst="line">
            <a:avLst/>
          </a:prstGeom>
          <a:ln w="2857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16731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4B77D18-0C03-49C6-9298-2B3B0A38C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 in C++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669FA63-CA02-48F4-BD26-BDE2D1B194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D77A38-312E-466E-8E42-AD89F89A5F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7073" y="65763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450C061-FCD7-4E5E-A02A-3F2A15E03A91}" type="slidenum">
              <a:rPr lang="en-IN" smtClean="0"/>
              <a:pPr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38558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64770-A79F-9921-69FF-94E691FA2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3A632-9492-3E19-C3FD-D3689696B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274FF-44FA-13DB-4978-C9754E8BD2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69333"/>
          </a:xfrm>
        </p:spPr>
        <p:txBody>
          <a:bodyPr>
            <a:normAutofit lnSpcReduction="10000"/>
          </a:bodyPr>
          <a:lstStyle/>
          <a:p>
            <a:r>
              <a:rPr lang="en-IN" dirty="0"/>
              <a:t>Reference is the alias name for the variable.</a:t>
            </a:r>
          </a:p>
          <a:p>
            <a:r>
              <a:rPr lang="en-IN" dirty="0"/>
              <a:t>The same memory location can be referred by another name</a:t>
            </a:r>
          </a:p>
        </p:txBody>
      </p:sp>
    </p:spTree>
    <p:extLst>
      <p:ext uri="{BB962C8B-B14F-4D97-AF65-F5344CB8AC3E}">
        <p14:creationId xmlns:p14="http://schemas.microsoft.com/office/powerpoint/2010/main" val="11547816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4BFDD-E1C3-7A93-C03F-509A92515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45DEC-7B50-F550-88C6-55ED6C3D5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References : 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3E7964-5DA2-20AD-EB33-F955C6DC08A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endParaRPr lang="en-IN" sz="12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200" dirty="0">
                <a:latin typeface="Consolas" panose="020B0609020204030204" pitchFamily="49" charset="0"/>
              </a:rPr>
              <a:t>int main(){</a:t>
            </a:r>
          </a:p>
          <a:p>
            <a:pPr marL="45720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200" dirty="0">
                <a:latin typeface="Consolas" panose="020B0609020204030204" pitchFamily="49" charset="0"/>
              </a:rPr>
              <a:t>int a;</a:t>
            </a:r>
          </a:p>
          <a:p>
            <a:pPr marL="45720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dirty="0" err="1">
                <a:latin typeface="Consolas" panose="020B0609020204030204" pitchFamily="49" charset="0"/>
              </a:rPr>
              <a:t>cout</a:t>
            </a:r>
            <a:r>
              <a:rPr lang="en-US" sz="1200" dirty="0">
                <a:latin typeface="Consolas" panose="020B0609020204030204" pitchFamily="49" charset="0"/>
              </a:rPr>
              <a:t>&lt;&lt;"Enter the values for a : ";</a:t>
            </a:r>
          </a:p>
          <a:p>
            <a:pPr marL="45720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it-IT" sz="1200" dirty="0">
                <a:latin typeface="Consolas" panose="020B0609020204030204" pitchFamily="49" charset="0"/>
              </a:rPr>
              <a:t>cin&gt;&gt;a;//Assuming entered value is 5</a:t>
            </a:r>
          </a:p>
          <a:p>
            <a:pPr marL="45720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200" dirty="0">
                <a:latin typeface="Consolas" panose="020B0609020204030204" pitchFamily="49" charset="0"/>
              </a:rPr>
              <a:t>int &amp;x = a;</a:t>
            </a:r>
          </a:p>
          <a:p>
            <a:pPr marL="45720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dirty="0" err="1">
                <a:latin typeface="Consolas" panose="020B0609020204030204" pitchFamily="49" charset="0"/>
              </a:rPr>
              <a:t>cout</a:t>
            </a:r>
            <a:r>
              <a:rPr lang="en-US" sz="1200" dirty="0">
                <a:latin typeface="Consolas" panose="020B0609020204030204" pitchFamily="49" charset="0"/>
              </a:rPr>
              <a:t>&lt;&lt;“\n a = “&lt;&lt;a;</a:t>
            </a:r>
          </a:p>
          <a:p>
            <a:pPr marL="45720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dirty="0" err="1">
                <a:latin typeface="Consolas" panose="020B0609020204030204" pitchFamily="49" charset="0"/>
              </a:rPr>
              <a:t>cout</a:t>
            </a:r>
            <a:r>
              <a:rPr lang="en-US" sz="1200" dirty="0">
                <a:latin typeface="Consolas" panose="020B0609020204030204" pitchFamily="49" charset="0"/>
              </a:rPr>
              <a:t>&lt;&lt;“\n x = “&lt;&lt;x;</a:t>
            </a:r>
          </a:p>
          <a:p>
            <a:pPr marL="45720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dirty="0" err="1">
                <a:latin typeface="Consolas" panose="020B0609020204030204" pitchFamily="49" charset="0"/>
              </a:rPr>
              <a:t>cout</a:t>
            </a:r>
            <a:r>
              <a:rPr lang="en-US" sz="1200" dirty="0">
                <a:latin typeface="Consolas" panose="020B0609020204030204" pitchFamily="49" charset="0"/>
              </a:rPr>
              <a:t>&lt;&lt;“\n &amp;a = “&lt;&lt;&amp;a;</a:t>
            </a:r>
          </a:p>
          <a:p>
            <a:pPr marL="45720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dirty="0" err="1">
                <a:latin typeface="Consolas" panose="020B0609020204030204" pitchFamily="49" charset="0"/>
              </a:rPr>
              <a:t>cout</a:t>
            </a:r>
            <a:r>
              <a:rPr lang="en-US" sz="1200" dirty="0">
                <a:latin typeface="Consolas" panose="020B0609020204030204" pitchFamily="49" charset="0"/>
              </a:rPr>
              <a:t>&lt;&lt;“\n &amp;x = “&lt;&lt;&amp;x;</a:t>
            </a:r>
          </a:p>
          <a:p>
            <a:pPr marL="45720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dirty="0">
                <a:latin typeface="Consolas" panose="020B0609020204030204" pitchFamily="49" charset="0"/>
              </a:rPr>
              <a:t>return 0;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2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B705DF-3865-386A-1365-1D0653DBBBA6}"/>
              </a:ext>
            </a:extLst>
          </p:cNvPr>
          <p:cNvSpPr txBox="1"/>
          <p:nvPr/>
        </p:nvSpPr>
        <p:spPr>
          <a:xfrm>
            <a:off x="8363315" y="2753696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x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EF8113-5B84-0EDA-A8CD-B4D4100C1323}"/>
              </a:ext>
            </a:extLst>
          </p:cNvPr>
          <p:cNvSpPr/>
          <p:nvPr/>
        </p:nvSpPr>
        <p:spPr>
          <a:xfrm>
            <a:off x="7849771" y="4019788"/>
            <a:ext cx="787791" cy="7315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F05032-6B3D-8535-C00D-8B9AF5163B19}"/>
              </a:ext>
            </a:extLst>
          </p:cNvPr>
          <p:cNvSpPr txBox="1"/>
          <p:nvPr/>
        </p:nvSpPr>
        <p:spPr>
          <a:xfrm>
            <a:off x="7849771" y="3752502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9790D6-69BB-E02F-C688-8C9D92A50E19}"/>
              </a:ext>
            </a:extLst>
          </p:cNvPr>
          <p:cNvSpPr txBox="1"/>
          <p:nvPr/>
        </p:nvSpPr>
        <p:spPr>
          <a:xfrm>
            <a:off x="7849771" y="4751308"/>
            <a:ext cx="661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2000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333986E-AAB4-DC83-B061-92BF0F5F3DA0}"/>
              </a:ext>
            </a:extLst>
          </p:cNvPr>
          <p:cNvSpPr/>
          <p:nvPr/>
        </p:nvSpPr>
        <p:spPr>
          <a:xfrm>
            <a:off x="7849771" y="4019788"/>
            <a:ext cx="787791" cy="7315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10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2EC13EA-B51E-861A-D69B-040D214210F1}"/>
              </a:ext>
            </a:extLst>
          </p:cNvPr>
          <p:cNvCxnSpPr/>
          <p:nvPr/>
        </p:nvCxnSpPr>
        <p:spPr>
          <a:xfrm flipH="1">
            <a:off x="8475635" y="3123028"/>
            <a:ext cx="35317" cy="8967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84D51BD2-1CF0-0125-F068-40ABD6983508}"/>
              </a:ext>
            </a:extLst>
          </p:cNvPr>
          <p:cNvSpPr/>
          <p:nvPr/>
        </p:nvSpPr>
        <p:spPr>
          <a:xfrm rot="10800000" flipV="1">
            <a:off x="4593655" y="2837623"/>
            <a:ext cx="863991" cy="201478"/>
          </a:xfrm>
          <a:prstGeom prst="rightArrow">
            <a:avLst/>
          </a:prstGeom>
          <a:ln>
            <a:solidFill>
              <a:srgbClr val="C0000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EBFC1B68-3B86-2E82-20F9-BA8A31C16407}"/>
              </a:ext>
            </a:extLst>
          </p:cNvPr>
          <p:cNvSpPr/>
          <p:nvPr/>
        </p:nvSpPr>
        <p:spPr>
          <a:xfrm rot="10800000" flipV="1">
            <a:off x="2797215" y="3039102"/>
            <a:ext cx="863991" cy="201478"/>
          </a:xfrm>
          <a:prstGeom prst="rightArrow">
            <a:avLst/>
          </a:prstGeom>
          <a:ln>
            <a:solidFill>
              <a:srgbClr val="C0000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8380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 animBg="1"/>
      <p:bldP spid="9" grpId="1" animBg="1"/>
      <p:bldP spid="10" grpId="0"/>
      <p:bldP spid="11" grpId="0"/>
      <p:bldP spid="13" grpId="0" animBg="1"/>
      <p:bldP spid="16" grpId="0" animBg="1"/>
      <p:bldP spid="16" grpId="1" animBg="1"/>
      <p:bldP spid="17" grpId="0" animBg="1"/>
      <p:bldP spid="17" grpId="1" animBg="1"/>
      <p:bldP spid="17" grpId="2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4FC92-C68E-3601-4C50-47D71611B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376409E-B235-4006-07ED-B30F8F2EE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Functions in C++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73610F7-0BF2-17A7-855C-D2824B22E8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369FC7-2868-6399-2D69-723DC3CAEF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7073" y="65763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450C061-FCD7-4E5E-A02A-3F2A15E03A91}" type="slidenum">
              <a:rPr lang="en-IN" smtClean="0"/>
              <a:pPr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58673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B8796-3C5A-4EA1-BFBD-BB644857D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Functions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2594D-FA46-468C-80C7-38DA77B78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set of statements that are used to perform a specific task</a:t>
            </a:r>
          </a:p>
          <a:p>
            <a:r>
              <a:rPr lang="en-US" dirty="0"/>
              <a:t>independent block of statements</a:t>
            </a:r>
          </a:p>
          <a:p>
            <a:r>
              <a:rPr lang="en-US" dirty="0" err="1"/>
              <a:t>Eg</a:t>
            </a:r>
            <a:r>
              <a:rPr lang="en-US" dirty="0"/>
              <a:t>: function to compute grade of a student, matrix addition</a:t>
            </a:r>
          </a:p>
          <a:p>
            <a:r>
              <a:rPr lang="en-US" dirty="0"/>
              <a:t>main() is specific type of function that is used by the compiler to start the execution of the program with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45240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54829-B93E-4EE3-BE82-957D834B9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Function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54399F-AD56-4F66-8CA5-E96B58A51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Modularity</a:t>
            </a:r>
          </a:p>
          <a:p>
            <a:pPr lvl="1"/>
            <a:r>
              <a:rPr lang="en-US" dirty="0"/>
              <a:t>the code can be divided into fragments based on what operation it is required to perform</a:t>
            </a:r>
          </a:p>
          <a:p>
            <a:pPr lvl="1"/>
            <a:r>
              <a:rPr lang="en-US" dirty="0"/>
              <a:t>makes handling large complex programs easier</a:t>
            </a:r>
          </a:p>
          <a:p>
            <a:r>
              <a:rPr lang="en-US" dirty="0"/>
              <a:t>Code Reuse</a:t>
            </a:r>
          </a:p>
          <a:p>
            <a:pPr lvl="1"/>
            <a:r>
              <a:rPr lang="en-US" dirty="0"/>
              <a:t>the same set of statements required again and again can be created as function</a:t>
            </a:r>
          </a:p>
          <a:p>
            <a:pPr lvl="1"/>
            <a:r>
              <a:rPr lang="en-US" dirty="0"/>
              <a:t>each time it is required, the function can be called</a:t>
            </a:r>
          </a:p>
          <a:p>
            <a:pPr lvl="1"/>
            <a:r>
              <a:rPr lang="en-US" dirty="0"/>
              <a:t>no need to write the code each time</a:t>
            </a:r>
          </a:p>
          <a:p>
            <a:r>
              <a:rPr lang="en-US" dirty="0"/>
              <a:t>Easy to Debug</a:t>
            </a:r>
          </a:p>
          <a:p>
            <a:pPr lvl="1"/>
            <a:r>
              <a:rPr lang="en-US" dirty="0"/>
              <a:t>since code is divided into independent fragments, if any error occurs, it becomes easier to detect which part of code is not working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02886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0475C-9664-4F30-B165-C6F392796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Functions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D04B2-6C5F-44D9-BBAF-37C9B3D07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Built-in Function</a:t>
            </a:r>
          </a:p>
          <a:p>
            <a:pPr lvl="1"/>
            <a:r>
              <a:rPr lang="en-US" dirty="0"/>
              <a:t>functions available in header files</a:t>
            </a:r>
          </a:p>
          <a:p>
            <a:pPr lvl="1"/>
            <a:r>
              <a:rPr lang="en-US" dirty="0"/>
              <a:t>system functionality is already defined in header files</a:t>
            </a:r>
          </a:p>
          <a:p>
            <a:pPr lvl="1"/>
            <a:r>
              <a:rPr lang="en-US" dirty="0"/>
              <a:t>each time it is required, only function call needs to be done</a:t>
            </a:r>
          </a:p>
          <a:p>
            <a:pPr lvl="1"/>
            <a:r>
              <a:rPr lang="en-US" dirty="0"/>
              <a:t>needs to include the corresponding header file with code</a:t>
            </a:r>
          </a:p>
          <a:p>
            <a:r>
              <a:rPr lang="en-US" dirty="0"/>
              <a:t>User Defined Functions</a:t>
            </a:r>
          </a:p>
          <a:p>
            <a:pPr lvl="1"/>
            <a:r>
              <a:rPr lang="en-US" dirty="0"/>
              <a:t>functions not available in system but created based on user requirement</a:t>
            </a:r>
          </a:p>
          <a:p>
            <a:pPr lvl="1"/>
            <a:r>
              <a:rPr lang="en-US" dirty="0"/>
              <a:t>the function definition needs to be added in the same program or in a separate file which in turn should be included with the program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90245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7D68C-B82F-4387-9C33-14A4426D7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03"/>
            <a:ext cx="10515600" cy="1325563"/>
          </a:xfrm>
        </p:spPr>
        <p:txBody>
          <a:bodyPr/>
          <a:lstStyle/>
          <a:p>
            <a:r>
              <a:rPr lang="en-IN" dirty="0"/>
              <a:t>Function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1960D-5454-4DEF-9936-946A185EB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0466"/>
            <a:ext cx="10515600" cy="5001061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Function Declaration:</a:t>
            </a:r>
          </a:p>
          <a:p>
            <a:pPr lvl="1"/>
            <a:r>
              <a:rPr lang="en-US" dirty="0"/>
              <a:t>provides the signature for the function</a:t>
            </a:r>
          </a:p>
          <a:p>
            <a:pPr lvl="1"/>
            <a:r>
              <a:rPr lang="en-US" dirty="0"/>
              <a:t>Syntax:</a:t>
            </a:r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sz="1500" dirty="0" err="1">
                <a:solidFill>
                  <a:prstClr val="black"/>
                </a:solidFill>
                <a:latin typeface="Consolas" panose="020B0609020204030204" pitchFamily="49" charset="0"/>
              </a:rPr>
              <a:t>return_type</a:t>
            </a:r>
            <a:r>
              <a:rPr lang="en-US" sz="15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prstClr val="black"/>
                </a:solidFill>
                <a:latin typeface="Consolas" panose="020B0609020204030204" pitchFamily="49" charset="0"/>
              </a:rPr>
              <a:t>function_name</a:t>
            </a:r>
            <a:r>
              <a:rPr lang="en-US" sz="1500" dirty="0">
                <a:solidFill>
                  <a:prstClr val="black"/>
                </a:solidFill>
                <a:latin typeface="Consolas" panose="020B0609020204030204" pitchFamily="49" charset="0"/>
              </a:rPr>
              <a:t>( parameter list );</a:t>
            </a:r>
          </a:p>
          <a:p>
            <a:r>
              <a:rPr lang="en-US" dirty="0"/>
              <a:t>Function Definition:</a:t>
            </a:r>
          </a:p>
          <a:p>
            <a:pPr lvl="1"/>
            <a:r>
              <a:rPr lang="en-IN" dirty="0"/>
              <a:t>provides the actual process for the function</a:t>
            </a:r>
          </a:p>
          <a:p>
            <a:pPr lvl="1"/>
            <a:r>
              <a:rPr lang="en-IN" dirty="0"/>
              <a:t>Syntax:</a:t>
            </a:r>
          </a:p>
          <a:p>
            <a:pPr marL="457200" lvl="1" indent="0">
              <a:buNone/>
            </a:pPr>
            <a:r>
              <a:rPr lang="en-IN" dirty="0"/>
              <a:t>	</a:t>
            </a:r>
            <a:r>
              <a:rPr lang="en-US" sz="1500" dirty="0" err="1">
                <a:solidFill>
                  <a:prstClr val="black"/>
                </a:solidFill>
                <a:latin typeface="Consolas" panose="020B0609020204030204" pitchFamily="49" charset="0"/>
              </a:rPr>
              <a:t>return_type</a:t>
            </a:r>
            <a:r>
              <a:rPr lang="en-US" sz="15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prstClr val="black"/>
                </a:solidFill>
                <a:latin typeface="Consolas" panose="020B0609020204030204" pitchFamily="49" charset="0"/>
              </a:rPr>
              <a:t>function_name</a:t>
            </a:r>
            <a:r>
              <a:rPr lang="en-US" sz="1500" dirty="0">
                <a:solidFill>
                  <a:prstClr val="black"/>
                </a:solidFill>
                <a:latin typeface="Consolas" panose="020B0609020204030204" pitchFamily="49" charset="0"/>
              </a:rPr>
              <a:t>( parameter list ) {</a:t>
            </a:r>
          </a:p>
          <a:p>
            <a:pPr marL="457200" lvl="1" indent="0">
              <a:buNone/>
            </a:pPr>
            <a:r>
              <a:rPr lang="en-US" sz="1500" dirty="0">
                <a:solidFill>
                  <a:prstClr val="black"/>
                </a:solidFill>
                <a:latin typeface="Consolas" panose="020B0609020204030204" pitchFamily="49" charset="0"/>
              </a:rPr>
              <a:t>  	 body of the function</a:t>
            </a:r>
          </a:p>
          <a:p>
            <a:pPr marL="457200" lvl="1" indent="0">
              <a:buNone/>
            </a:pPr>
            <a:r>
              <a:rPr lang="en-US" sz="1500" dirty="0">
                <a:solidFill>
                  <a:prstClr val="black"/>
                </a:solidFill>
                <a:latin typeface="Consolas" panose="020B0609020204030204" pitchFamily="49" charset="0"/>
              </a:rPr>
              <a:t>	}</a:t>
            </a:r>
          </a:p>
          <a:p>
            <a:r>
              <a:rPr lang="en-US" dirty="0"/>
              <a:t>Function Calling</a:t>
            </a:r>
          </a:p>
          <a:p>
            <a:pPr lvl="1"/>
            <a:r>
              <a:rPr lang="en-IN" dirty="0"/>
              <a:t>refers to calling the user defined/ built-in functions</a:t>
            </a:r>
          </a:p>
          <a:p>
            <a:pPr lvl="1"/>
            <a:r>
              <a:rPr lang="en-US" dirty="0"/>
              <a:t>Syntax:</a:t>
            </a:r>
          </a:p>
          <a:p>
            <a:pPr marL="914400" lvl="2" indent="0">
              <a:buNone/>
            </a:pPr>
            <a:r>
              <a:rPr lang="en-US" sz="1400" dirty="0" err="1">
                <a:latin typeface="Consolas" panose="020B0609020204030204" pitchFamily="49" charset="0"/>
              </a:rPr>
              <a:t>function_name</a:t>
            </a:r>
            <a:r>
              <a:rPr lang="en-US" sz="1400" dirty="0">
                <a:latin typeface="Consolas" panose="020B0609020204030204" pitchFamily="49" charset="0"/>
              </a:rPr>
              <a:t>( </a:t>
            </a:r>
            <a:r>
              <a:rPr lang="en-US" sz="1400" dirty="0" err="1">
                <a:latin typeface="Consolas" panose="020B0609020204030204" pitchFamily="49" charset="0"/>
              </a:rPr>
              <a:t>parameter_value_list</a:t>
            </a:r>
            <a:r>
              <a:rPr lang="en-US" sz="1400" dirty="0">
                <a:latin typeface="Consolas" panose="020B0609020204030204" pitchFamily="49" charset="0"/>
              </a:rPr>
              <a:t> ) ;</a:t>
            </a:r>
          </a:p>
          <a:p>
            <a:pPr marL="914400" lvl="2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OR</a:t>
            </a:r>
          </a:p>
          <a:p>
            <a:pPr marL="914400" lvl="2" indent="0">
              <a:buNone/>
            </a:pPr>
            <a:r>
              <a:rPr lang="en-US" sz="1400" dirty="0" err="1">
                <a:latin typeface="Consolas" panose="020B0609020204030204" pitchFamily="49" charset="0"/>
              </a:rPr>
              <a:t>data_type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 err="1">
                <a:latin typeface="Consolas" panose="020B0609020204030204" pitchFamily="49" charset="0"/>
              </a:rPr>
              <a:t>variable_name</a:t>
            </a:r>
            <a:r>
              <a:rPr lang="en-US" sz="1400" dirty="0">
                <a:latin typeface="Consolas" panose="020B0609020204030204" pitchFamily="49" charset="0"/>
              </a:rPr>
              <a:t> = </a:t>
            </a:r>
            <a:r>
              <a:rPr lang="en-US" sz="1400" dirty="0" err="1">
                <a:latin typeface="Consolas" panose="020B0609020204030204" pitchFamily="49" charset="0"/>
              </a:rPr>
              <a:t>function_name</a:t>
            </a:r>
            <a:r>
              <a:rPr lang="en-US" sz="1400" dirty="0">
                <a:latin typeface="Consolas" panose="020B0609020204030204" pitchFamily="49" charset="0"/>
              </a:rPr>
              <a:t>( </a:t>
            </a:r>
            <a:r>
              <a:rPr lang="en-US" sz="1400" dirty="0" err="1">
                <a:latin typeface="Consolas" panose="020B0609020204030204" pitchFamily="49" charset="0"/>
              </a:rPr>
              <a:t>parameter_value_list</a:t>
            </a:r>
            <a:r>
              <a:rPr lang="en-US" sz="1400" dirty="0">
                <a:latin typeface="Consolas" panose="020B0609020204030204" pitchFamily="49" charset="0"/>
              </a:rPr>
              <a:t> );</a:t>
            </a:r>
            <a:endParaRPr lang="en-US" sz="7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67324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CA15B-993F-481D-9018-76E356752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30" y="151944"/>
            <a:ext cx="10515600" cy="812511"/>
          </a:xfrm>
        </p:spPr>
        <p:txBody>
          <a:bodyPr/>
          <a:lstStyle/>
          <a:p>
            <a:r>
              <a:rPr lang="en-US" dirty="0"/>
              <a:t>Example Program For Functions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7AA978-B843-42C9-A50D-B404F38F9119}"/>
              </a:ext>
            </a:extLst>
          </p:cNvPr>
          <p:cNvSpPr/>
          <p:nvPr/>
        </p:nvSpPr>
        <p:spPr>
          <a:xfrm>
            <a:off x="5708066" y="1272665"/>
            <a:ext cx="6096008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808080"/>
                </a:solidFill>
                <a:latin typeface="Consolas" panose="020B0609020204030204" pitchFamily="49" charset="0"/>
              </a:rPr>
              <a:t>#include</a:t>
            </a:r>
            <a:r>
              <a:rPr lang="en-IN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IN" dirty="0" err="1">
                <a:solidFill>
                  <a:srgbClr val="A31515"/>
                </a:solidFill>
                <a:latin typeface="Consolas" panose="020B0609020204030204" pitchFamily="49" charset="0"/>
              </a:rPr>
              <a:t>stdio.h</a:t>
            </a:r>
            <a:r>
              <a:rPr lang="en-IN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calcMax2(</a:t>
            </a:r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808080"/>
                </a:solidFill>
                <a:latin typeface="Consolas" panose="020B0609020204030204" pitchFamily="49" charset="0"/>
              </a:rPr>
              <a:t>num1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808080"/>
                </a:solidFill>
                <a:latin typeface="Consolas" panose="020B0609020204030204" pitchFamily="49" charset="0"/>
              </a:rPr>
              <a:t>num2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en-IN" dirty="0">
                <a:solidFill>
                  <a:srgbClr val="00B050"/>
                </a:solidFill>
                <a:latin typeface="Consolas" panose="020B0609020204030204" pitchFamily="49" charset="0"/>
              </a:rPr>
              <a:t>//Declaration</a:t>
            </a:r>
          </a:p>
          <a:p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num1, num2, max;</a:t>
            </a:r>
          </a:p>
          <a:p>
            <a:pPr lvl="1"/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IN" dirty="0">
                <a:solidFill>
                  <a:srgbClr val="A31515"/>
                </a:solidFill>
                <a:latin typeface="Consolas" panose="020B0609020204030204" pitchFamily="49" charset="0"/>
              </a:rPr>
              <a:t>"\</a:t>
            </a:r>
            <a:r>
              <a:rPr lang="en-IN" dirty="0" err="1">
                <a:solidFill>
                  <a:srgbClr val="A31515"/>
                </a:solidFill>
                <a:latin typeface="Consolas" panose="020B0609020204030204" pitchFamily="49" charset="0"/>
              </a:rPr>
              <a:t>nEnter</a:t>
            </a:r>
            <a:r>
              <a:rPr lang="en-IN" dirty="0">
                <a:solidFill>
                  <a:srgbClr val="A31515"/>
                </a:solidFill>
                <a:latin typeface="Consolas" panose="020B0609020204030204" pitchFamily="49" charset="0"/>
              </a:rPr>
              <a:t> fist number :"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cin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&gt;&gt;num1;</a:t>
            </a:r>
          </a:p>
          <a:p>
            <a:pPr lvl="1"/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IN" dirty="0">
                <a:solidFill>
                  <a:srgbClr val="A31515"/>
                </a:solidFill>
                <a:latin typeface="Consolas" panose="020B0609020204030204" pitchFamily="49" charset="0"/>
              </a:rPr>
              <a:t>"\</a:t>
            </a:r>
            <a:r>
              <a:rPr lang="en-IN" dirty="0" err="1">
                <a:solidFill>
                  <a:srgbClr val="A31515"/>
                </a:solidFill>
                <a:latin typeface="Consolas" panose="020B0609020204030204" pitchFamily="49" charset="0"/>
              </a:rPr>
              <a:t>nEnter</a:t>
            </a:r>
            <a:r>
              <a:rPr lang="en-IN" dirty="0">
                <a:solidFill>
                  <a:srgbClr val="A31515"/>
                </a:solidFill>
                <a:latin typeface="Consolas" panose="020B0609020204030204" pitchFamily="49" charset="0"/>
              </a:rPr>
              <a:t> second number : "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cin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&gt;&gt;num2;</a:t>
            </a:r>
          </a:p>
          <a:p>
            <a:pPr lvl="1"/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max = calcMax2(num1, num2); </a:t>
            </a:r>
            <a:r>
              <a:rPr lang="en-IN" dirty="0">
                <a:solidFill>
                  <a:srgbClr val="00B050"/>
                </a:solidFill>
                <a:latin typeface="Consolas" panose="020B0609020204030204" pitchFamily="49" charset="0"/>
              </a:rPr>
              <a:t>//Call</a:t>
            </a:r>
          </a:p>
          <a:p>
            <a:pPr lvl="1"/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"\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nMaximum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 of two numbers “&lt;&lt;num1&lt;&lt;“ &amp; “&lt;&lt;num2&lt;&lt;“ is “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&lt;&lt;max;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calcMax2(</a:t>
            </a:r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808080"/>
                </a:solidFill>
                <a:latin typeface="Consolas" panose="020B0609020204030204" pitchFamily="49" charset="0"/>
              </a:rPr>
              <a:t>num1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808080"/>
                </a:solidFill>
                <a:latin typeface="Consolas" panose="020B0609020204030204" pitchFamily="49" charset="0"/>
              </a:rPr>
              <a:t>num2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IN" dirty="0">
                <a:solidFill>
                  <a:srgbClr val="00B050"/>
                </a:solidFill>
                <a:latin typeface="Consolas" panose="020B0609020204030204" pitchFamily="49" charset="0"/>
              </a:rPr>
              <a:t>//Definition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IN" dirty="0">
                <a:solidFill>
                  <a:srgbClr val="808080"/>
                </a:solidFill>
                <a:latin typeface="Consolas" panose="020B0609020204030204" pitchFamily="49" charset="0"/>
              </a:rPr>
              <a:t>num1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&gt; </a:t>
            </a:r>
            <a:r>
              <a:rPr lang="en-IN" dirty="0">
                <a:solidFill>
                  <a:srgbClr val="808080"/>
                </a:solidFill>
                <a:latin typeface="Consolas" panose="020B0609020204030204" pitchFamily="49" charset="0"/>
              </a:rPr>
              <a:t>num2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2"/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808080"/>
                </a:solidFill>
                <a:latin typeface="Consolas" panose="020B0609020204030204" pitchFamily="49" charset="0"/>
              </a:rPr>
              <a:t>num1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2"/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808080"/>
                </a:solidFill>
                <a:latin typeface="Consolas" panose="020B0609020204030204" pitchFamily="49" charset="0"/>
              </a:rPr>
              <a:t>num2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C6516E-1C3F-465C-8D81-8E252381C48D}"/>
              </a:ext>
            </a:extLst>
          </p:cNvPr>
          <p:cNvSpPr/>
          <p:nvPr/>
        </p:nvSpPr>
        <p:spPr>
          <a:xfrm>
            <a:off x="193967" y="1606537"/>
            <a:ext cx="5375563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808080"/>
                </a:solidFill>
                <a:latin typeface="Consolas" panose="020B0609020204030204" pitchFamily="49" charset="0"/>
              </a:rPr>
              <a:t>#include</a:t>
            </a:r>
            <a:r>
              <a:rPr lang="en-IN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IN" dirty="0" err="1">
                <a:solidFill>
                  <a:srgbClr val="A31515"/>
                </a:solidFill>
                <a:latin typeface="Consolas" panose="020B0609020204030204" pitchFamily="49" charset="0"/>
              </a:rPr>
              <a:t>stdio.h</a:t>
            </a:r>
            <a:r>
              <a:rPr lang="en-IN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N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num1, num2, max;</a:t>
            </a:r>
          </a:p>
          <a:p>
            <a:pPr lvl="1"/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IN" dirty="0">
                <a:solidFill>
                  <a:srgbClr val="A31515"/>
                </a:solidFill>
                <a:latin typeface="Consolas" panose="020B0609020204030204" pitchFamily="49" charset="0"/>
              </a:rPr>
              <a:t>"\</a:t>
            </a:r>
            <a:r>
              <a:rPr lang="en-IN" dirty="0" err="1">
                <a:solidFill>
                  <a:srgbClr val="A31515"/>
                </a:solidFill>
                <a:latin typeface="Consolas" panose="020B0609020204030204" pitchFamily="49" charset="0"/>
              </a:rPr>
              <a:t>nEnter</a:t>
            </a:r>
            <a:r>
              <a:rPr lang="en-IN" dirty="0">
                <a:solidFill>
                  <a:srgbClr val="A31515"/>
                </a:solidFill>
                <a:latin typeface="Consolas" panose="020B0609020204030204" pitchFamily="49" charset="0"/>
              </a:rPr>
              <a:t> fist number :"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cin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&gt;&gt;num1;</a:t>
            </a:r>
          </a:p>
          <a:p>
            <a:pPr lvl="1"/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IN" dirty="0">
                <a:solidFill>
                  <a:srgbClr val="A31515"/>
                </a:solidFill>
                <a:latin typeface="Consolas" panose="020B0609020204030204" pitchFamily="49" charset="0"/>
              </a:rPr>
              <a:t>"\</a:t>
            </a:r>
            <a:r>
              <a:rPr lang="en-IN" dirty="0" err="1">
                <a:solidFill>
                  <a:srgbClr val="A31515"/>
                </a:solidFill>
                <a:latin typeface="Consolas" panose="020B0609020204030204" pitchFamily="49" charset="0"/>
              </a:rPr>
              <a:t>nEnter</a:t>
            </a:r>
            <a:r>
              <a:rPr lang="en-IN" dirty="0">
                <a:solidFill>
                  <a:srgbClr val="A31515"/>
                </a:solidFill>
                <a:latin typeface="Consolas" panose="020B0609020204030204" pitchFamily="49" charset="0"/>
              </a:rPr>
              <a:t> second number : "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cin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&gt;&gt;num2;</a:t>
            </a:r>
          </a:p>
          <a:p>
            <a:pPr lvl="1"/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IN" dirty="0">
                <a:solidFill>
                  <a:srgbClr val="808080"/>
                </a:solidFill>
                <a:latin typeface="Consolas" panose="020B0609020204030204" pitchFamily="49" charset="0"/>
              </a:rPr>
              <a:t>num1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&gt; </a:t>
            </a:r>
            <a:r>
              <a:rPr lang="en-IN" dirty="0">
                <a:solidFill>
                  <a:srgbClr val="808080"/>
                </a:solidFill>
                <a:latin typeface="Consolas" panose="020B0609020204030204" pitchFamily="49" charset="0"/>
              </a:rPr>
              <a:t>num2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2"/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max = num1;</a:t>
            </a:r>
          </a:p>
          <a:p>
            <a:pPr lvl="1"/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</a:p>
          <a:p>
            <a:pPr lvl="1"/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max = num2;</a:t>
            </a:r>
          </a:p>
          <a:p>
            <a:pPr lvl="1"/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"\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nMaximum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 of two numbers “&lt;&lt;num1&lt;&lt;“ &amp; “&lt;&lt;num2&lt;&lt;“ is “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&lt;&lt;max;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380DCA2-88FA-49D4-B9C1-841E8EEAD561}"/>
              </a:ext>
            </a:extLst>
          </p:cNvPr>
          <p:cNvCxnSpPr>
            <a:cxnSpLocks/>
          </p:cNvCxnSpPr>
          <p:nvPr/>
        </p:nvCxnSpPr>
        <p:spPr>
          <a:xfrm>
            <a:off x="5472542" y="1049297"/>
            <a:ext cx="0" cy="5559321"/>
          </a:xfrm>
          <a:prstGeom prst="line">
            <a:avLst/>
          </a:prstGeom>
          <a:ln w="381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F5E48D8-9BB1-4FFD-8708-55B8751B480F}"/>
              </a:ext>
            </a:extLst>
          </p:cNvPr>
          <p:cNvSpPr txBox="1"/>
          <p:nvPr/>
        </p:nvSpPr>
        <p:spPr>
          <a:xfrm>
            <a:off x="152402" y="984184"/>
            <a:ext cx="5084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PROGRAM WITHOUT USER DEFINED FUNCTION</a:t>
            </a:r>
            <a:endParaRPr lang="en-IN" b="1" u="sng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8115489-2B42-4861-9A52-E895C6701958}"/>
              </a:ext>
            </a:extLst>
          </p:cNvPr>
          <p:cNvSpPr txBox="1"/>
          <p:nvPr/>
        </p:nvSpPr>
        <p:spPr>
          <a:xfrm>
            <a:off x="6504709" y="864631"/>
            <a:ext cx="5084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PROGRAM WITH USER DEFINED FUNCTION</a:t>
            </a:r>
            <a:endParaRPr lang="en-IN" b="1" u="sng" dirty="0"/>
          </a:p>
        </p:txBody>
      </p:sp>
    </p:spTree>
    <p:extLst>
      <p:ext uri="{BB962C8B-B14F-4D97-AF65-F5344CB8AC3E}">
        <p14:creationId xmlns:p14="http://schemas.microsoft.com/office/powerpoint/2010/main" val="7354825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62CAF-B94C-482F-BCB7-ED8EC7E92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Terminologies With Function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1CAC4-BDA7-4ED0-819B-3AEB67336F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Actual Parameters &amp; Formal Parameters</a:t>
            </a:r>
          </a:p>
          <a:p>
            <a:pPr lvl="1"/>
            <a:r>
              <a:rPr lang="en-US" dirty="0"/>
              <a:t>Actual parameters are the actual values that are passed wen a function call is made</a:t>
            </a:r>
          </a:p>
          <a:p>
            <a:pPr lvl="1"/>
            <a:r>
              <a:rPr lang="en-US" dirty="0"/>
              <a:t>Formal parameters act like a placeholders or containers defined in function definition for the values being passed during function call</a:t>
            </a:r>
          </a:p>
          <a:p>
            <a:r>
              <a:rPr lang="en-US" dirty="0"/>
              <a:t>Calling Function &amp; Called Function</a:t>
            </a:r>
          </a:p>
          <a:p>
            <a:pPr lvl="1"/>
            <a:r>
              <a:rPr lang="en-US" dirty="0"/>
              <a:t>Called function is the function that is being called to perform certain task</a:t>
            </a:r>
          </a:p>
          <a:p>
            <a:pPr lvl="1"/>
            <a:r>
              <a:rPr lang="en-US" dirty="0"/>
              <a:t>Calling Function is the function where the function call is made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77269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33643-F297-4B8A-986D-F4F5F15BA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4" y="101893"/>
            <a:ext cx="11828314" cy="676130"/>
          </a:xfrm>
        </p:spPr>
        <p:txBody>
          <a:bodyPr>
            <a:normAutofit fontScale="90000"/>
          </a:bodyPr>
          <a:lstStyle/>
          <a:p>
            <a:r>
              <a:rPr lang="en-IN" dirty="0"/>
              <a:t>Illustration of Terminologies Associated With Functions</a:t>
            </a:r>
          </a:p>
        </p:txBody>
      </p:sp>
      <p:sp>
        <p:nvSpPr>
          <p:cNvPr id="4" name="Speech Bubble: Rectangle 3">
            <a:extLst>
              <a:ext uri="{FF2B5EF4-FFF2-40B4-BE49-F238E27FC236}">
                <a16:creationId xmlns:a16="http://schemas.microsoft.com/office/drawing/2014/main" id="{C9DFD73C-B9D5-43C1-A606-DAE9B8941E1B}"/>
              </a:ext>
            </a:extLst>
          </p:cNvPr>
          <p:cNvSpPr/>
          <p:nvPr/>
        </p:nvSpPr>
        <p:spPr>
          <a:xfrm>
            <a:off x="1461657" y="4144207"/>
            <a:ext cx="3117278" cy="1662545"/>
          </a:xfrm>
          <a:prstGeom prst="wedgeRectCallout">
            <a:avLst>
              <a:gd name="adj1" fmla="val 172855"/>
              <a:gd name="adj2" fmla="val 2921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8220122F-8C98-4CC7-A990-7C09EB2EB925}"/>
              </a:ext>
            </a:extLst>
          </p:cNvPr>
          <p:cNvSpPr/>
          <p:nvPr/>
        </p:nvSpPr>
        <p:spPr>
          <a:xfrm>
            <a:off x="1461657" y="1207047"/>
            <a:ext cx="2467406" cy="360218"/>
          </a:xfrm>
          <a:prstGeom prst="wedgeRectCallout">
            <a:avLst>
              <a:gd name="adj1" fmla="val 239205"/>
              <a:gd name="adj2" fmla="val 1237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04DA9F76-1146-4EA8-9C2C-B7B916F7F301}"/>
              </a:ext>
            </a:extLst>
          </p:cNvPr>
          <p:cNvSpPr/>
          <p:nvPr/>
        </p:nvSpPr>
        <p:spPr>
          <a:xfrm>
            <a:off x="1887682" y="2927172"/>
            <a:ext cx="3270106" cy="401782"/>
          </a:xfrm>
          <a:prstGeom prst="wedgeRectCallout">
            <a:avLst>
              <a:gd name="adj1" fmla="val 152923"/>
              <a:gd name="adj2" fmla="val -29418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6EA28-4964-442E-81C8-E8E07BF650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1657" y="900549"/>
            <a:ext cx="6767945" cy="5430981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IN" sz="1400" dirty="0">
                <a:latin typeface="Consolas" panose="020B0609020204030204" pitchFamily="49" charset="0"/>
              </a:rPr>
              <a:t>#include&lt;</a:t>
            </a:r>
            <a:r>
              <a:rPr lang="en-IN" sz="1400" dirty="0" err="1">
                <a:latin typeface="Consolas" panose="020B0609020204030204" pitchFamily="49" charset="0"/>
              </a:rPr>
              <a:t>stdio.h</a:t>
            </a:r>
            <a:r>
              <a:rPr lang="en-IN" sz="1400" dirty="0">
                <a:latin typeface="Consolas" panose="020B0609020204030204" pitchFamily="49" charset="0"/>
              </a:rPr>
              <a:t>&gt;</a:t>
            </a:r>
          </a:p>
          <a:p>
            <a:pPr marL="0" indent="0">
              <a:spcBef>
                <a:spcPts val="0"/>
              </a:spcBef>
              <a:buNone/>
            </a:pPr>
            <a:endParaRPr lang="en-IN" sz="14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IN" sz="1400" dirty="0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en-IN" sz="1400" dirty="0">
                <a:latin typeface="Consolas" panose="020B0609020204030204" pitchFamily="49" charset="0"/>
              </a:rPr>
              <a:t> calcMax2(</a:t>
            </a:r>
            <a:r>
              <a:rPr lang="en-IN" sz="1400" dirty="0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en-IN" sz="1400" dirty="0">
                <a:latin typeface="Consolas" panose="020B0609020204030204" pitchFamily="49" charset="0"/>
              </a:rPr>
              <a:t>, </a:t>
            </a:r>
            <a:r>
              <a:rPr lang="en-IN" sz="1400" dirty="0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en-IN" sz="14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endParaRPr lang="en-IN" sz="14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IN" sz="1400" dirty="0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en-IN" sz="1400" dirty="0">
                <a:latin typeface="Consolas" panose="020B0609020204030204" pitchFamily="49" charset="0"/>
              </a:rPr>
              <a:t> main() {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IN" sz="1400" dirty="0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en-IN" sz="1400" dirty="0">
                <a:latin typeface="Consolas" panose="020B0609020204030204" pitchFamily="49" charset="0"/>
              </a:rPr>
              <a:t> num1, num2, maximum;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IN" sz="1400" dirty="0" err="1">
                <a:latin typeface="Consolas" panose="020B0609020204030204" pitchFamily="49" charset="0"/>
              </a:rPr>
              <a:t>cout</a:t>
            </a:r>
            <a:r>
              <a:rPr lang="en-IN" sz="1400" dirty="0">
                <a:latin typeface="Consolas" panose="020B0609020204030204" pitchFamily="49" charset="0"/>
              </a:rPr>
              <a:t>&lt;&lt;"Enter first number: ";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IN" sz="1400" dirty="0" err="1">
                <a:latin typeface="Consolas" panose="020B0609020204030204" pitchFamily="49" charset="0"/>
              </a:rPr>
              <a:t>cin</a:t>
            </a:r>
            <a:r>
              <a:rPr lang="en-IN" sz="1400" dirty="0">
                <a:latin typeface="Consolas" panose="020B0609020204030204" pitchFamily="49" charset="0"/>
              </a:rPr>
              <a:t>&gt;&gt;num1;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IN" sz="1400" dirty="0" err="1">
                <a:latin typeface="Consolas" panose="020B0609020204030204" pitchFamily="49" charset="0"/>
              </a:rPr>
              <a:t>cout</a:t>
            </a:r>
            <a:r>
              <a:rPr lang="en-IN" sz="1400" dirty="0">
                <a:latin typeface="Consolas" panose="020B0609020204030204" pitchFamily="49" charset="0"/>
              </a:rPr>
              <a:t>&lt;&lt;"Enter second number: ";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IN" sz="1400" dirty="0" err="1">
                <a:latin typeface="Consolas" panose="020B0609020204030204" pitchFamily="49" charset="0"/>
              </a:rPr>
              <a:t>cin</a:t>
            </a:r>
            <a:r>
              <a:rPr lang="en-IN" sz="1400" dirty="0">
                <a:latin typeface="Consolas" panose="020B0609020204030204" pitchFamily="49" charset="0"/>
              </a:rPr>
              <a:t>&gt;&gt;num2;</a:t>
            </a:r>
          </a:p>
          <a:p>
            <a:pPr marL="457200" lvl="1" indent="0">
              <a:spcBef>
                <a:spcPts val="0"/>
              </a:spcBef>
              <a:buNone/>
            </a:pPr>
            <a:endParaRPr lang="en-IN" sz="1400" dirty="0">
              <a:latin typeface="Consolas" panose="020B0609020204030204" pitchFamily="49" charset="0"/>
            </a:endParaRPr>
          </a:p>
          <a:p>
            <a:pPr marL="457200" lvl="1" indent="0">
              <a:spcBef>
                <a:spcPts val="0"/>
              </a:spcBef>
              <a:buNone/>
            </a:pPr>
            <a:r>
              <a:rPr lang="en-IN" sz="1400" dirty="0">
                <a:latin typeface="Consolas" panose="020B0609020204030204" pitchFamily="49" charset="0"/>
              </a:rPr>
              <a:t>maximum = calcMax2(num1, num2);</a:t>
            </a:r>
          </a:p>
          <a:p>
            <a:pPr marL="457200" lvl="1" indent="0">
              <a:spcBef>
                <a:spcPts val="0"/>
              </a:spcBef>
              <a:buNone/>
            </a:pPr>
            <a:endParaRPr lang="en-IN" sz="1400" dirty="0">
              <a:latin typeface="Consolas" panose="020B0609020204030204" pitchFamily="49" charset="0"/>
            </a:endParaRPr>
          </a:p>
          <a:p>
            <a:pPr marL="457200" lvl="1" indent="0">
              <a:spcBef>
                <a:spcPts val="0"/>
              </a:spcBef>
              <a:buNone/>
            </a:pPr>
            <a:r>
              <a:rPr lang="en-IN" sz="1400" dirty="0" err="1">
                <a:latin typeface="Consolas" panose="020B0609020204030204" pitchFamily="49" charset="0"/>
              </a:rPr>
              <a:t>cout</a:t>
            </a:r>
            <a:r>
              <a:rPr lang="en-IN" sz="1400" dirty="0">
                <a:latin typeface="Consolas" panose="020B0609020204030204" pitchFamily="49" charset="0"/>
              </a:rPr>
              <a:t>&lt;&lt;"\n Maximum of num1 and num2 is “&lt;&lt;maximum;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IN" sz="1400" dirty="0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en-IN" sz="1400" dirty="0">
                <a:latin typeface="Consolas" panose="020B0609020204030204" pitchFamily="49" charset="0"/>
              </a:rPr>
              <a:t> 0;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4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endParaRPr lang="en-IN" sz="14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fr-FR" sz="1400" dirty="0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fr-FR" sz="1400" dirty="0">
                <a:latin typeface="Consolas" panose="020B0609020204030204" pitchFamily="49" charset="0"/>
              </a:rPr>
              <a:t> calcMax2(</a:t>
            </a:r>
            <a:r>
              <a:rPr lang="fr-FR" sz="1400" dirty="0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fr-FR" sz="1400" dirty="0">
                <a:latin typeface="Consolas" panose="020B0609020204030204" pitchFamily="49" charset="0"/>
              </a:rPr>
              <a:t> a, </a:t>
            </a:r>
            <a:r>
              <a:rPr lang="fr-FR" sz="1400" dirty="0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fr-FR" sz="1400" dirty="0">
                <a:latin typeface="Consolas" panose="020B0609020204030204" pitchFamily="49" charset="0"/>
              </a:rPr>
              <a:t> b) {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IN" sz="1400" dirty="0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en-IN" sz="1400" dirty="0">
                <a:latin typeface="Consolas" panose="020B0609020204030204" pitchFamily="49" charset="0"/>
              </a:rPr>
              <a:t> max;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IN" sz="1400" dirty="0">
                <a:solidFill>
                  <a:srgbClr val="0070C0"/>
                </a:solidFill>
                <a:latin typeface="Consolas" panose="020B0609020204030204" pitchFamily="49" charset="0"/>
              </a:rPr>
              <a:t>if</a:t>
            </a:r>
            <a:r>
              <a:rPr lang="en-IN" sz="1400" dirty="0">
                <a:latin typeface="Consolas" panose="020B0609020204030204" pitchFamily="49" charset="0"/>
              </a:rPr>
              <a:t> (a &gt; b)</a:t>
            </a:r>
          </a:p>
          <a:p>
            <a:pPr marL="914400" lvl="2" indent="0">
              <a:spcBef>
                <a:spcPts val="0"/>
              </a:spcBef>
              <a:buNone/>
            </a:pPr>
            <a:r>
              <a:rPr lang="en-IN" sz="1400" dirty="0">
                <a:latin typeface="Consolas" panose="020B0609020204030204" pitchFamily="49" charset="0"/>
              </a:rPr>
              <a:t>max = a;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IN" sz="1400" dirty="0">
                <a:solidFill>
                  <a:srgbClr val="0070C0"/>
                </a:solidFill>
                <a:latin typeface="Consolas" panose="020B0609020204030204" pitchFamily="49" charset="0"/>
              </a:rPr>
              <a:t>else</a:t>
            </a:r>
          </a:p>
          <a:p>
            <a:pPr marL="914400" lvl="2" indent="0">
              <a:spcBef>
                <a:spcPts val="0"/>
              </a:spcBef>
              <a:buNone/>
            </a:pPr>
            <a:r>
              <a:rPr lang="en-IN" sz="1400" dirty="0">
                <a:latin typeface="Consolas" panose="020B0609020204030204" pitchFamily="49" charset="0"/>
              </a:rPr>
              <a:t>max = b;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IN" sz="1400" dirty="0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en-IN" sz="1400" dirty="0">
                <a:latin typeface="Consolas" panose="020B0609020204030204" pitchFamily="49" charset="0"/>
              </a:rPr>
              <a:t> max;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4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97F2BC-01C2-4F95-844E-8C7DCE583756}"/>
              </a:ext>
            </a:extLst>
          </p:cNvPr>
          <p:cNvSpPr txBox="1"/>
          <p:nvPr/>
        </p:nvSpPr>
        <p:spPr>
          <a:xfrm>
            <a:off x="8382003" y="5266434"/>
            <a:ext cx="3332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Function Definition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2D865C-681D-47B5-A754-D20A50E92E04}"/>
              </a:ext>
            </a:extLst>
          </p:cNvPr>
          <p:cNvSpPr txBox="1"/>
          <p:nvPr/>
        </p:nvSpPr>
        <p:spPr>
          <a:xfrm>
            <a:off x="8562112" y="1276320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Function Prototype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9AD6DA-5387-44F7-BF16-6FF6E20546D9}"/>
              </a:ext>
            </a:extLst>
          </p:cNvPr>
          <p:cNvSpPr txBox="1"/>
          <p:nvPr/>
        </p:nvSpPr>
        <p:spPr>
          <a:xfrm>
            <a:off x="8492837" y="2853551"/>
            <a:ext cx="1398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Function Call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C4A3F1-DA2A-4FE7-9EB5-90FE966FD4C2}"/>
              </a:ext>
            </a:extLst>
          </p:cNvPr>
          <p:cNvSpPr txBox="1"/>
          <p:nvPr/>
        </p:nvSpPr>
        <p:spPr>
          <a:xfrm>
            <a:off x="6084323" y="3082361"/>
            <a:ext cx="22167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rgbClr val="C00000"/>
                </a:solidFill>
              </a:rPr>
              <a:t>Actual Arguments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2D5FDF-CDFD-4453-A7BD-1CD9989B2C4C}"/>
              </a:ext>
            </a:extLst>
          </p:cNvPr>
          <p:cNvSpPr txBox="1"/>
          <p:nvPr/>
        </p:nvSpPr>
        <p:spPr>
          <a:xfrm>
            <a:off x="5245686" y="4120613"/>
            <a:ext cx="22167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rgbClr val="C00000"/>
                </a:solidFill>
              </a:rPr>
              <a:t>Formal Arguments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D7493E-4C08-4B28-8D81-79BFCBB8C9BC}"/>
              </a:ext>
            </a:extLst>
          </p:cNvPr>
          <p:cNvSpPr txBox="1"/>
          <p:nvPr/>
        </p:nvSpPr>
        <p:spPr>
          <a:xfrm flipH="1">
            <a:off x="129645" y="2175259"/>
            <a:ext cx="11796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Calling</a:t>
            </a:r>
          </a:p>
          <a:p>
            <a:r>
              <a:rPr lang="en-IN" b="1" dirty="0">
                <a:solidFill>
                  <a:srgbClr val="C00000"/>
                </a:solidFill>
              </a:rPr>
              <a:t> Function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6CFB5A-87D8-4C62-AABC-F24ADE2E8AE3}"/>
              </a:ext>
            </a:extLst>
          </p:cNvPr>
          <p:cNvSpPr txBox="1"/>
          <p:nvPr/>
        </p:nvSpPr>
        <p:spPr>
          <a:xfrm flipH="1">
            <a:off x="266704" y="4652313"/>
            <a:ext cx="15337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Called Function</a:t>
            </a:r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A346531B-455E-40A2-8916-EF01F8563832}"/>
              </a:ext>
            </a:extLst>
          </p:cNvPr>
          <p:cNvSpPr/>
          <p:nvPr/>
        </p:nvSpPr>
        <p:spPr>
          <a:xfrm>
            <a:off x="1191491" y="1645652"/>
            <a:ext cx="270166" cy="2330606"/>
          </a:xfrm>
          <a:prstGeom prst="leftBrac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935DD125-B931-4606-B02C-C4642E9447FD}"/>
              </a:ext>
            </a:extLst>
          </p:cNvPr>
          <p:cNvSpPr/>
          <p:nvPr/>
        </p:nvSpPr>
        <p:spPr>
          <a:xfrm>
            <a:off x="1191491" y="4180541"/>
            <a:ext cx="270166" cy="1662545"/>
          </a:xfrm>
          <a:prstGeom prst="leftBrac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BA2C313-7B5B-474D-8DA6-ACF990BD582F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4061114" y="4274502"/>
            <a:ext cx="1184572" cy="3077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5E9A8A9-086E-4BC5-AEE6-F2E901B9AB74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4853865" y="3170928"/>
            <a:ext cx="1230458" cy="653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2413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5" grpId="0"/>
      <p:bldP spid="7" grpId="0"/>
      <p:bldP spid="9" grpId="0"/>
      <p:bldP spid="10" grpId="0"/>
      <p:bldP spid="11" grpId="0"/>
      <p:bldP spid="13" grpId="0"/>
      <p:bldP spid="14" grpId="0"/>
      <p:bldP spid="15" grpId="0" animBg="1"/>
      <p:bldP spid="1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71385-C3F8-4DA9-BEE1-33397ACC3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Categories of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9FFE1-D028-42C3-B14C-F530257C94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Functions can be created in 4 different formats based on return type of the function &amp; number of arguments: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Function with no parameter and no return value</a:t>
            </a:r>
          </a:p>
          <a:p>
            <a:r>
              <a:rPr lang="en-IN" dirty="0"/>
              <a:t>Function with no parameter and return value</a:t>
            </a:r>
          </a:p>
          <a:p>
            <a:r>
              <a:rPr lang="en-IN" dirty="0"/>
              <a:t>Function with parameter(s) and no return value</a:t>
            </a:r>
          </a:p>
          <a:p>
            <a:r>
              <a:rPr lang="en-IN" dirty="0"/>
              <a:t>Function with parameter(s) and return value</a:t>
            </a:r>
          </a:p>
        </p:txBody>
      </p:sp>
    </p:spTree>
    <p:extLst>
      <p:ext uri="{BB962C8B-B14F-4D97-AF65-F5344CB8AC3E}">
        <p14:creationId xmlns:p14="http://schemas.microsoft.com/office/powerpoint/2010/main" val="19637021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5D527-3487-400A-8387-1DD456D3E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546" y="0"/>
            <a:ext cx="11152907" cy="951055"/>
          </a:xfrm>
        </p:spPr>
        <p:txBody>
          <a:bodyPr/>
          <a:lstStyle/>
          <a:p>
            <a:r>
              <a:rPr lang="en-IN" dirty="0"/>
              <a:t>Illustration of Return Types &amp; Parameter Passing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E7CA6D3-269E-45DB-9206-32854D5562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893" y="1077985"/>
            <a:ext cx="6767945" cy="5430981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IN" sz="1400" dirty="0">
                <a:latin typeface="Consolas" panose="020B0609020204030204" pitchFamily="49" charset="0"/>
              </a:rPr>
              <a:t>#include&lt;</a:t>
            </a:r>
            <a:r>
              <a:rPr lang="en-IN" sz="1400" dirty="0" err="1">
                <a:latin typeface="Consolas" panose="020B0609020204030204" pitchFamily="49" charset="0"/>
              </a:rPr>
              <a:t>stdio.h</a:t>
            </a:r>
            <a:r>
              <a:rPr lang="en-IN" sz="1400" dirty="0">
                <a:latin typeface="Consolas" panose="020B0609020204030204" pitchFamily="49" charset="0"/>
              </a:rPr>
              <a:t>&gt;</a:t>
            </a:r>
          </a:p>
          <a:p>
            <a:pPr marL="0" indent="0">
              <a:spcBef>
                <a:spcPts val="0"/>
              </a:spcBef>
              <a:buNone/>
            </a:pPr>
            <a:endParaRPr lang="en-IN" sz="14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IN" sz="1400" dirty="0">
                <a:latin typeface="Consolas" panose="020B0609020204030204" pitchFamily="49" charset="0"/>
              </a:rPr>
              <a:t>int max(int, int);</a:t>
            </a:r>
          </a:p>
          <a:p>
            <a:pPr marL="0" indent="0">
              <a:spcBef>
                <a:spcPts val="0"/>
              </a:spcBef>
              <a:buNone/>
            </a:pPr>
            <a:endParaRPr lang="en-IN" sz="14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IN" sz="1400" dirty="0">
                <a:latin typeface="Consolas" panose="020B0609020204030204" pitchFamily="49" charset="0"/>
              </a:rPr>
              <a:t>int main() {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IN" sz="1400" dirty="0">
                <a:latin typeface="Consolas" panose="020B0609020204030204" pitchFamily="49" charset="0"/>
              </a:rPr>
              <a:t>int num1, num2, maximum;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IN" sz="1400" dirty="0" err="1">
                <a:latin typeface="Consolas" panose="020B0609020204030204" pitchFamily="49" charset="0"/>
              </a:rPr>
              <a:t>cout</a:t>
            </a:r>
            <a:r>
              <a:rPr lang="en-IN" sz="1400" dirty="0">
                <a:latin typeface="Consolas" panose="020B0609020204030204" pitchFamily="49" charset="0"/>
              </a:rPr>
              <a:t>&lt;&lt;"Enter first number: ");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IN" sz="1400" dirty="0" err="1">
                <a:latin typeface="Consolas" panose="020B0609020204030204" pitchFamily="49" charset="0"/>
              </a:rPr>
              <a:t>cin</a:t>
            </a:r>
            <a:r>
              <a:rPr lang="en-IN" sz="1400" dirty="0">
                <a:latin typeface="Consolas" panose="020B0609020204030204" pitchFamily="49" charset="0"/>
              </a:rPr>
              <a:t>&gt;&gt;num1;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IN" sz="1400" dirty="0" err="1">
                <a:latin typeface="Consolas" panose="020B0609020204030204" pitchFamily="49" charset="0"/>
              </a:rPr>
              <a:t>cout</a:t>
            </a:r>
            <a:r>
              <a:rPr lang="en-IN" sz="1400" dirty="0">
                <a:latin typeface="Consolas" panose="020B0609020204030204" pitchFamily="49" charset="0"/>
              </a:rPr>
              <a:t>&lt;&lt;"Enter second number: ");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IN" sz="1400" dirty="0" err="1">
                <a:latin typeface="Consolas" panose="020B0609020204030204" pitchFamily="49" charset="0"/>
              </a:rPr>
              <a:t>cin</a:t>
            </a:r>
            <a:r>
              <a:rPr lang="en-IN" sz="1400" dirty="0">
                <a:latin typeface="Consolas" panose="020B0609020204030204" pitchFamily="49" charset="0"/>
              </a:rPr>
              <a:t>&gt;&gt;num2;</a:t>
            </a:r>
          </a:p>
          <a:p>
            <a:pPr marL="457200" lvl="1" indent="0">
              <a:spcBef>
                <a:spcPts val="0"/>
              </a:spcBef>
              <a:buNone/>
            </a:pPr>
            <a:endParaRPr lang="en-IN" sz="1400" dirty="0">
              <a:latin typeface="Consolas" panose="020B0609020204030204" pitchFamily="49" charset="0"/>
            </a:endParaRPr>
          </a:p>
          <a:p>
            <a:pPr marL="457200" lvl="1" indent="0">
              <a:spcBef>
                <a:spcPts val="0"/>
              </a:spcBef>
              <a:buNone/>
            </a:pPr>
            <a:endParaRPr lang="en-IN" sz="1400" dirty="0">
              <a:latin typeface="Consolas" panose="020B0609020204030204" pitchFamily="49" charset="0"/>
            </a:endParaRPr>
          </a:p>
          <a:p>
            <a:pPr marL="457200" lvl="1" indent="0">
              <a:spcBef>
                <a:spcPts val="0"/>
              </a:spcBef>
              <a:buNone/>
            </a:pPr>
            <a:endParaRPr lang="en-IN" sz="1400" dirty="0">
              <a:latin typeface="Consolas" panose="020B0609020204030204" pitchFamily="49" charset="0"/>
            </a:endParaRPr>
          </a:p>
          <a:p>
            <a:pPr marL="457200" lvl="1" indent="0">
              <a:spcBef>
                <a:spcPts val="0"/>
              </a:spcBef>
              <a:buNone/>
            </a:pPr>
            <a:r>
              <a:rPr lang="en-IN" sz="1400" dirty="0">
                <a:latin typeface="Consolas" panose="020B0609020204030204" pitchFamily="49" charset="0"/>
              </a:rPr>
              <a:t>maximum = max(num1, num2);</a:t>
            </a:r>
          </a:p>
          <a:p>
            <a:pPr marL="457200" lvl="1" indent="0">
              <a:spcBef>
                <a:spcPts val="0"/>
              </a:spcBef>
              <a:buNone/>
            </a:pPr>
            <a:endParaRPr lang="en-IN" sz="1400" dirty="0">
              <a:latin typeface="Consolas" panose="020B0609020204030204" pitchFamily="49" charset="0"/>
            </a:endParaRPr>
          </a:p>
          <a:p>
            <a:pPr marL="457200" lvl="1" indent="0">
              <a:spcBef>
                <a:spcPts val="0"/>
              </a:spcBef>
              <a:buNone/>
            </a:pPr>
            <a:endParaRPr lang="en-IN" sz="1400" dirty="0">
              <a:latin typeface="Consolas" panose="020B0609020204030204" pitchFamily="49" charset="0"/>
            </a:endParaRPr>
          </a:p>
          <a:p>
            <a:pPr marL="457200" lvl="1" indent="0">
              <a:spcBef>
                <a:spcPts val="0"/>
              </a:spcBef>
              <a:buNone/>
            </a:pPr>
            <a:endParaRPr lang="en-IN" sz="1400" dirty="0">
              <a:latin typeface="Consolas" panose="020B0609020204030204" pitchFamily="49" charset="0"/>
            </a:endParaRPr>
          </a:p>
          <a:p>
            <a:pPr marL="457200" lvl="1" indent="0">
              <a:spcBef>
                <a:spcPts val="0"/>
              </a:spcBef>
              <a:buNone/>
            </a:pPr>
            <a:endParaRPr lang="en-IN" sz="1400" dirty="0">
              <a:latin typeface="Consolas" panose="020B0609020204030204" pitchFamily="49" charset="0"/>
            </a:endParaRPr>
          </a:p>
          <a:p>
            <a:pPr marL="457200" lvl="1" indent="0">
              <a:spcBef>
                <a:spcPts val="0"/>
              </a:spcBef>
              <a:buNone/>
            </a:pPr>
            <a:endParaRPr lang="en-IN" sz="1400" dirty="0">
              <a:latin typeface="Consolas" panose="020B0609020204030204" pitchFamily="49" charset="0"/>
            </a:endParaRPr>
          </a:p>
          <a:p>
            <a:pPr marL="457200" lvl="1" indent="0">
              <a:spcBef>
                <a:spcPts val="0"/>
              </a:spcBef>
              <a:buNone/>
            </a:pPr>
            <a:endParaRPr lang="en-IN" sz="1400" dirty="0">
              <a:latin typeface="Consolas" panose="020B0609020204030204" pitchFamily="49" charset="0"/>
            </a:endParaRPr>
          </a:p>
          <a:p>
            <a:pPr marL="457200" lvl="1" indent="0">
              <a:spcBef>
                <a:spcPts val="0"/>
              </a:spcBef>
              <a:buNone/>
            </a:pPr>
            <a:endParaRPr lang="en-IN" sz="1400" dirty="0">
              <a:latin typeface="Consolas" panose="020B0609020204030204" pitchFamily="49" charset="0"/>
            </a:endParaRPr>
          </a:p>
          <a:p>
            <a:pPr marL="457200" lvl="1" indent="0">
              <a:spcBef>
                <a:spcPts val="0"/>
              </a:spcBef>
              <a:buNone/>
            </a:pPr>
            <a:endParaRPr lang="en-IN" sz="1400" dirty="0">
              <a:latin typeface="Consolas" panose="020B0609020204030204" pitchFamily="49" charset="0"/>
            </a:endParaRPr>
          </a:p>
          <a:p>
            <a:pPr marL="457200" lvl="1" indent="0">
              <a:spcBef>
                <a:spcPts val="0"/>
              </a:spcBef>
              <a:buNone/>
            </a:pPr>
            <a:endParaRPr lang="en-IN" sz="1400" dirty="0">
              <a:latin typeface="Consolas" panose="020B0609020204030204" pitchFamily="49" charset="0"/>
            </a:endParaRPr>
          </a:p>
          <a:p>
            <a:pPr marL="457200" lvl="1" indent="0">
              <a:spcBef>
                <a:spcPts val="0"/>
              </a:spcBef>
              <a:buNone/>
            </a:pPr>
            <a:endParaRPr lang="en-IN" sz="1400" dirty="0">
              <a:latin typeface="Consolas" panose="020B0609020204030204" pitchFamily="49" charset="0"/>
            </a:endParaRPr>
          </a:p>
          <a:p>
            <a:pPr marL="457200" lvl="1" indent="0">
              <a:spcBef>
                <a:spcPts val="0"/>
              </a:spcBef>
              <a:buNone/>
            </a:pPr>
            <a:r>
              <a:rPr lang="en-IN" sz="1400" dirty="0" err="1">
                <a:latin typeface="Consolas" panose="020B0609020204030204" pitchFamily="49" charset="0"/>
              </a:rPr>
              <a:t>cout</a:t>
            </a:r>
            <a:r>
              <a:rPr lang="en-IN" sz="1400" dirty="0">
                <a:latin typeface="Consolas" panose="020B0609020204030204" pitchFamily="49" charset="0"/>
              </a:rPr>
              <a:t>&lt;&lt;"\n Maximum of “&lt;&lt;num1&lt;&lt;“ and “&lt;&lt;num2 is “&lt;&lt;maximum;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IN" sz="1400" dirty="0">
                <a:latin typeface="Consolas" panose="020B0609020204030204" pitchFamily="49" charset="0"/>
              </a:rPr>
              <a:t>return 0;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4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endParaRPr lang="en-IN" sz="1400" dirty="0">
              <a:latin typeface="Consolas" panose="020B06090202040302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98E12D-7DC3-44EE-9277-0E74FE978766}"/>
              </a:ext>
            </a:extLst>
          </p:cNvPr>
          <p:cNvSpPr/>
          <p:nvPr/>
        </p:nvSpPr>
        <p:spPr>
          <a:xfrm>
            <a:off x="6968838" y="3719949"/>
            <a:ext cx="6096000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sz="1400" dirty="0">
                <a:latin typeface="Consolas" panose="020B0609020204030204" pitchFamily="49" charset="0"/>
              </a:rPr>
              <a:t>int max(int a, int b) {</a:t>
            </a:r>
          </a:p>
          <a:p>
            <a:pPr lvl="1"/>
            <a:r>
              <a:rPr lang="en-IN" sz="1400" dirty="0">
                <a:latin typeface="Consolas" panose="020B0609020204030204" pitchFamily="49" charset="0"/>
              </a:rPr>
              <a:t>int max2;</a:t>
            </a:r>
          </a:p>
          <a:p>
            <a:pPr lvl="1"/>
            <a:r>
              <a:rPr lang="en-IN" sz="1400" dirty="0">
                <a:latin typeface="Consolas" panose="020B0609020204030204" pitchFamily="49" charset="0"/>
              </a:rPr>
              <a:t>if (a &gt; b)</a:t>
            </a:r>
          </a:p>
          <a:p>
            <a:pPr lvl="2"/>
            <a:r>
              <a:rPr lang="en-IN" sz="1400" dirty="0">
                <a:latin typeface="Consolas" panose="020B0609020204030204" pitchFamily="49" charset="0"/>
              </a:rPr>
              <a:t>max2 = a;</a:t>
            </a:r>
          </a:p>
          <a:p>
            <a:pPr lvl="1"/>
            <a:r>
              <a:rPr lang="en-IN" sz="1400" dirty="0">
                <a:latin typeface="Consolas" panose="020B0609020204030204" pitchFamily="49" charset="0"/>
              </a:rPr>
              <a:t>else</a:t>
            </a:r>
          </a:p>
          <a:p>
            <a:pPr lvl="2"/>
            <a:r>
              <a:rPr lang="en-IN" sz="1400" dirty="0">
                <a:latin typeface="Consolas" panose="020B0609020204030204" pitchFamily="49" charset="0"/>
              </a:rPr>
              <a:t>max2 = b;</a:t>
            </a:r>
          </a:p>
          <a:p>
            <a:pPr lvl="1"/>
            <a:r>
              <a:rPr lang="en-IN" sz="1400" dirty="0">
                <a:latin typeface="Consolas" panose="020B0609020204030204" pitchFamily="49" charset="0"/>
              </a:rPr>
              <a:t>return max2;</a:t>
            </a:r>
          </a:p>
          <a:p>
            <a:r>
              <a:rPr lang="en-IN" sz="1400" dirty="0"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158DDE2C-8E4C-497D-AB9A-77C348265CCF}"/>
              </a:ext>
            </a:extLst>
          </p:cNvPr>
          <p:cNvCxnSpPr>
            <a:cxnSpLocks/>
          </p:cNvCxnSpPr>
          <p:nvPr/>
        </p:nvCxnSpPr>
        <p:spPr>
          <a:xfrm rot="16200000" flipH="1">
            <a:off x="640773" y="2143990"/>
            <a:ext cx="1433945" cy="1413163"/>
          </a:xfrm>
          <a:prstGeom prst="bentConnector3">
            <a:avLst>
              <a:gd name="adj1" fmla="val 73188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08C0D9F1-B59C-4182-800F-70232B1B4941}"/>
              </a:ext>
            </a:extLst>
          </p:cNvPr>
          <p:cNvCxnSpPr>
            <a:cxnSpLocks/>
          </p:cNvCxnSpPr>
          <p:nvPr/>
        </p:nvCxnSpPr>
        <p:spPr>
          <a:xfrm>
            <a:off x="3422073" y="3671455"/>
            <a:ext cx="4862945" cy="122020"/>
          </a:xfrm>
          <a:prstGeom prst="bentConnector3">
            <a:avLst>
              <a:gd name="adj1" fmla="val 100142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2C7556F8-D399-4430-B0E8-2B6CC113542F}"/>
              </a:ext>
            </a:extLst>
          </p:cNvPr>
          <p:cNvCxnSpPr/>
          <p:nvPr/>
        </p:nvCxnSpPr>
        <p:spPr>
          <a:xfrm rot="10800000">
            <a:off x="1773382" y="3976255"/>
            <a:ext cx="5195456" cy="1385454"/>
          </a:xfrm>
          <a:prstGeom prst="bentConnector3">
            <a:avLst>
              <a:gd name="adj1" fmla="val 99867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F1DAF6D2-34ED-483C-84CA-FFE71C6D89F5}"/>
              </a:ext>
            </a:extLst>
          </p:cNvPr>
          <p:cNvSpPr txBox="1"/>
          <p:nvPr/>
        </p:nvSpPr>
        <p:spPr>
          <a:xfrm>
            <a:off x="8298876" y="2712489"/>
            <a:ext cx="23968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Parameter Passing:</a:t>
            </a:r>
          </a:p>
          <a:p>
            <a:pPr lvl="1"/>
            <a:r>
              <a:rPr lang="en-IN" dirty="0">
                <a:solidFill>
                  <a:srgbClr val="FF0000"/>
                </a:solidFill>
              </a:rPr>
              <a:t>int a = num1;</a:t>
            </a:r>
          </a:p>
          <a:p>
            <a:pPr lvl="1"/>
            <a:r>
              <a:rPr lang="en-IN" dirty="0">
                <a:solidFill>
                  <a:srgbClr val="FF0000"/>
                </a:solidFill>
              </a:rPr>
              <a:t>int b = num2;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A2C2740-81EB-42E0-A507-FFF92522855C}"/>
              </a:ext>
            </a:extLst>
          </p:cNvPr>
          <p:cNvSpPr txBox="1"/>
          <p:nvPr/>
        </p:nvSpPr>
        <p:spPr>
          <a:xfrm>
            <a:off x="1773381" y="4095714"/>
            <a:ext cx="28304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Return Statement:</a:t>
            </a:r>
          </a:p>
          <a:p>
            <a:pPr lvl="1"/>
            <a:r>
              <a:rPr lang="en-IN" dirty="0">
                <a:solidFill>
                  <a:srgbClr val="FF0000"/>
                </a:solidFill>
              </a:rPr>
              <a:t>maximum = max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44E3A3E-6F34-4A5C-8500-EDC898FF0C79}"/>
              </a:ext>
            </a:extLst>
          </p:cNvPr>
          <p:cNvCxnSpPr>
            <a:cxnSpLocks/>
          </p:cNvCxnSpPr>
          <p:nvPr/>
        </p:nvCxnSpPr>
        <p:spPr>
          <a:xfrm>
            <a:off x="6858000" y="1077985"/>
            <a:ext cx="0" cy="555834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116150F2-994C-4703-9500-A7E0840970A1}"/>
              </a:ext>
            </a:extLst>
          </p:cNvPr>
          <p:cNvSpPr txBox="1">
            <a:spLocks/>
          </p:cNvSpPr>
          <p:nvPr/>
        </p:nvSpPr>
        <p:spPr>
          <a:xfrm>
            <a:off x="200892" y="1070841"/>
            <a:ext cx="6767945" cy="54309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sz="1400" dirty="0">
                <a:latin typeface="Consolas" panose="020B0609020204030204" pitchFamily="49" charset="0"/>
              </a:rPr>
              <a:t>#include&lt;</a:t>
            </a:r>
            <a:r>
              <a:rPr lang="en-IN" sz="1400" dirty="0" err="1">
                <a:latin typeface="Consolas" panose="020B0609020204030204" pitchFamily="49" charset="0"/>
              </a:rPr>
              <a:t>stdio.h</a:t>
            </a:r>
            <a:r>
              <a:rPr lang="en-IN" sz="1400" dirty="0">
                <a:latin typeface="Consolas" panose="020B0609020204030204" pitchFamily="49" charset="0"/>
              </a:rPr>
              <a:t>&gt;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IN" sz="14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sz="1400" dirty="0">
                <a:latin typeface="Consolas" panose="020B0609020204030204" pitchFamily="49" charset="0"/>
              </a:rPr>
              <a:t>int max(int, int);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IN" sz="14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sz="1400" dirty="0">
                <a:latin typeface="Consolas" panose="020B0609020204030204" pitchFamily="49" charset="0"/>
              </a:rPr>
              <a:t>int main() {</a:t>
            </a:r>
          </a:p>
          <a:p>
            <a:pPr marL="457200" lvl="1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sz="1400" dirty="0">
                <a:latin typeface="Consolas" panose="020B0609020204030204" pitchFamily="49" charset="0"/>
              </a:rPr>
              <a:t>int num1, num2, maximum;</a:t>
            </a:r>
          </a:p>
          <a:p>
            <a:pPr marL="457200" lvl="1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sz="1400" dirty="0" err="1">
                <a:latin typeface="Consolas" panose="020B0609020204030204" pitchFamily="49" charset="0"/>
              </a:rPr>
              <a:t>cout</a:t>
            </a:r>
            <a:r>
              <a:rPr lang="en-IN" sz="1400" dirty="0">
                <a:latin typeface="Consolas" panose="020B0609020204030204" pitchFamily="49" charset="0"/>
              </a:rPr>
              <a:t>&lt;&lt;"Enter first number: ";</a:t>
            </a:r>
          </a:p>
          <a:p>
            <a:pPr marL="457200" lvl="1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sz="1400" dirty="0" err="1">
                <a:latin typeface="Consolas" panose="020B0609020204030204" pitchFamily="49" charset="0"/>
              </a:rPr>
              <a:t>cin</a:t>
            </a:r>
            <a:r>
              <a:rPr lang="en-IN" sz="1400" dirty="0">
                <a:latin typeface="Consolas" panose="020B0609020204030204" pitchFamily="49" charset="0"/>
              </a:rPr>
              <a:t>&gt;&gt;num1;</a:t>
            </a:r>
          </a:p>
          <a:p>
            <a:pPr marL="457200" lvl="1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sz="1400" dirty="0" err="1">
                <a:latin typeface="Consolas" panose="020B0609020204030204" pitchFamily="49" charset="0"/>
              </a:rPr>
              <a:t>cout</a:t>
            </a:r>
            <a:r>
              <a:rPr lang="en-IN" sz="1400" dirty="0">
                <a:latin typeface="Consolas" panose="020B0609020204030204" pitchFamily="49" charset="0"/>
              </a:rPr>
              <a:t>&lt;&lt;"Enter second number: ";</a:t>
            </a:r>
          </a:p>
          <a:p>
            <a:pPr marL="457200" lvl="1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sz="1400" dirty="0" err="1">
                <a:latin typeface="Consolas" panose="020B0609020204030204" pitchFamily="49" charset="0"/>
              </a:rPr>
              <a:t>cin</a:t>
            </a:r>
            <a:r>
              <a:rPr lang="en-IN" sz="1400" dirty="0">
                <a:latin typeface="Consolas" panose="020B0609020204030204" pitchFamily="49" charset="0"/>
              </a:rPr>
              <a:t>&gt;&gt;num2;</a:t>
            </a:r>
          </a:p>
          <a:p>
            <a:pPr marL="457200" lvl="1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IN" sz="1400" dirty="0">
              <a:latin typeface="Consolas" panose="020B0609020204030204" pitchFamily="49" charset="0"/>
            </a:endParaRPr>
          </a:p>
          <a:p>
            <a:pPr marL="457200" lvl="1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sz="1400" dirty="0">
                <a:latin typeface="Consolas" panose="020B0609020204030204" pitchFamily="49" charset="0"/>
              </a:rPr>
              <a:t>maximum = max(num1, num2);</a:t>
            </a:r>
          </a:p>
          <a:p>
            <a:pPr marL="457200" lvl="1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IN" sz="1400" dirty="0">
              <a:latin typeface="Consolas" panose="020B0609020204030204" pitchFamily="49" charset="0"/>
            </a:endParaRPr>
          </a:p>
          <a:p>
            <a:pPr marL="457200" lvl="1" indent="0">
              <a:spcBef>
                <a:spcPts val="0"/>
              </a:spcBef>
              <a:buNone/>
            </a:pPr>
            <a:r>
              <a:rPr lang="en-IN" sz="1400" dirty="0" err="1">
                <a:latin typeface="Consolas" panose="020B0609020204030204" pitchFamily="49" charset="0"/>
              </a:rPr>
              <a:t>cout</a:t>
            </a:r>
            <a:r>
              <a:rPr lang="en-IN" sz="1400" dirty="0">
                <a:latin typeface="Consolas" panose="020B0609020204030204" pitchFamily="49" charset="0"/>
              </a:rPr>
              <a:t>&lt;&lt;"\n Maximum of “&lt;&lt;num1&lt;&lt;“ and “&lt;&lt;num2 is “&lt;&lt;maximum;</a:t>
            </a:r>
          </a:p>
          <a:p>
            <a:pPr marL="457200" lvl="1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sz="1400" dirty="0">
                <a:latin typeface="Consolas" panose="020B0609020204030204" pitchFamily="49" charset="0"/>
              </a:rPr>
              <a:t>return 0;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sz="14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IN" sz="14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fr-FR" sz="1400" dirty="0">
                <a:latin typeface="Consolas" panose="020B0609020204030204" pitchFamily="49" charset="0"/>
              </a:rPr>
              <a:t>int max(int a, int b) {</a:t>
            </a:r>
          </a:p>
          <a:p>
            <a:pPr marL="457200" lvl="1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sz="1400" dirty="0">
                <a:latin typeface="Consolas" panose="020B0609020204030204" pitchFamily="49" charset="0"/>
              </a:rPr>
              <a:t>int max2;</a:t>
            </a:r>
          </a:p>
          <a:p>
            <a:pPr marL="457200" lvl="1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sz="1400" dirty="0">
                <a:latin typeface="Consolas" panose="020B0609020204030204" pitchFamily="49" charset="0"/>
              </a:rPr>
              <a:t>if (a &gt; b)</a:t>
            </a:r>
          </a:p>
          <a:p>
            <a:pPr marL="914400" lvl="2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sz="1400" dirty="0">
                <a:latin typeface="Consolas" panose="020B0609020204030204" pitchFamily="49" charset="0"/>
              </a:rPr>
              <a:t>max2 = a;</a:t>
            </a:r>
          </a:p>
          <a:p>
            <a:pPr marL="457200" lvl="1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sz="1400" dirty="0">
                <a:latin typeface="Consolas" panose="020B0609020204030204" pitchFamily="49" charset="0"/>
              </a:rPr>
              <a:t>else</a:t>
            </a:r>
          </a:p>
          <a:p>
            <a:pPr marL="914400" lvl="2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sz="1400" dirty="0">
                <a:latin typeface="Consolas" panose="020B0609020204030204" pitchFamily="49" charset="0"/>
              </a:rPr>
              <a:t>max2 = b;</a:t>
            </a:r>
          </a:p>
          <a:p>
            <a:pPr marL="457200" lvl="1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sz="1400" dirty="0">
                <a:latin typeface="Consolas" panose="020B0609020204030204" pitchFamily="49" charset="0"/>
              </a:rPr>
              <a:t>return max;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sz="14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59244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7" grpId="0"/>
      <p:bldP spid="36" grpId="0"/>
      <p:bldP spid="37" grpId="0"/>
      <p:bldP spid="4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233F3-A083-45DD-98A7-09AE614D6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Return Value &amp; Parameter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BA8B0-675C-4048-9353-56CA65B4A9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Return Types:</a:t>
            </a:r>
          </a:p>
          <a:p>
            <a:pPr lvl="1"/>
            <a:r>
              <a:rPr lang="en-IN" dirty="0"/>
              <a:t>A function not returning value has a return type of void.</a:t>
            </a:r>
          </a:p>
          <a:p>
            <a:pPr lvl="1"/>
            <a:r>
              <a:rPr lang="en-IN" dirty="0"/>
              <a:t>A function returning a value will be of any type other than void</a:t>
            </a:r>
          </a:p>
          <a:p>
            <a:pPr lvl="1"/>
            <a:r>
              <a:rPr lang="en-IN" dirty="0"/>
              <a:t>All function that return a value should have a return statement</a:t>
            </a:r>
          </a:p>
          <a:p>
            <a:pPr lvl="1"/>
            <a:endParaRPr lang="en-IN" dirty="0"/>
          </a:p>
          <a:p>
            <a:r>
              <a:rPr lang="en-IN" dirty="0"/>
              <a:t>Parameter Values</a:t>
            </a:r>
          </a:p>
          <a:p>
            <a:pPr lvl="1"/>
            <a:r>
              <a:rPr lang="en-IN" dirty="0"/>
              <a:t>A Function call may pass some values for the function to utilize that are parameters</a:t>
            </a:r>
          </a:p>
          <a:p>
            <a:pPr lvl="1"/>
            <a:r>
              <a:rPr lang="en-IN" dirty="0"/>
              <a:t>If no values are to be passed then the parameter set is empty.</a:t>
            </a:r>
          </a:p>
          <a:p>
            <a:pPr lvl="1"/>
            <a:r>
              <a:rPr lang="en-IN" dirty="0"/>
              <a:t>The assignment of values follows the left to right association.</a:t>
            </a:r>
          </a:p>
        </p:txBody>
      </p:sp>
    </p:spTree>
    <p:extLst>
      <p:ext uri="{BB962C8B-B14F-4D97-AF65-F5344CB8AC3E}">
        <p14:creationId xmlns:p14="http://schemas.microsoft.com/office/powerpoint/2010/main" val="18897466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5873F-8B5E-4BCC-B63D-5CF3F280A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-8950"/>
            <a:ext cx="10515600" cy="1325563"/>
          </a:xfrm>
        </p:spPr>
        <p:txBody>
          <a:bodyPr/>
          <a:lstStyle/>
          <a:p>
            <a:r>
              <a:rPr lang="en-IN" dirty="0"/>
              <a:t>Categories of Functions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43626B-5870-4BFF-A382-B8DB21201C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692" y="1307088"/>
            <a:ext cx="5872884" cy="823912"/>
          </a:xfrm>
        </p:spPr>
        <p:txBody>
          <a:bodyPr/>
          <a:lstStyle/>
          <a:p>
            <a:r>
              <a:rPr lang="en-IN" dirty="0"/>
              <a:t>With No Parameter and No Return Value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1253B2-CAA3-4D15-9D46-6882A12163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692" y="2131000"/>
            <a:ext cx="5872883" cy="36845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400" dirty="0">
                <a:latin typeface="Consolas" panose="020B0609020204030204" pitchFamily="49" charset="0"/>
              </a:rPr>
              <a:t>#include&lt;</a:t>
            </a:r>
            <a:r>
              <a:rPr lang="en-IN" sz="1400" dirty="0" err="1">
                <a:latin typeface="Consolas" panose="020B0609020204030204" pitchFamily="49" charset="0"/>
              </a:rPr>
              <a:t>stdio.h</a:t>
            </a:r>
            <a:r>
              <a:rPr lang="en-IN" sz="1400" dirty="0"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IN" sz="1400" dirty="0">
                <a:latin typeface="Consolas" panose="020B0609020204030204" pitchFamily="49" charset="0"/>
              </a:rPr>
              <a:t>void </a:t>
            </a:r>
            <a:r>
              <a:rPr lang="en-IN" sz="1400" dirty="0" err="1">
                <a:latin typeface="Consolas" panose="020B0609020204030204" pitchFamily="49" charset="0"/>
              </a:rPr>
              <a:t>displayMessage</a:t>
            </a:r>
            <a:r>
              <a:rPr lang="en-IN" sz="1400" dirty="0">
                <a:latin typeface="Consolas" panose="020B0609020204030204" pitchFamily="49" charset="0"/>
              </a:rPr>
              <a:t>(){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</a:t>
            </a:r>
            <a:r>
              <a:rPr lang="en-US" sz="1400" dirty="0" err="1">
                <a:latin typeface="Consolas" panose="020B0609020204030204" pitchFamily="49" charset="0"/>
              </a:rPr>
              <a:t>cout</a:t>
            </a:r>
            <a:r>
              <a:rPr lang="en-US" sz="1400" dirty="0">
                <a:latin typeface="Consolas" panose="020B0609020204030204" pitchFamily="49" charset="0"/>
              </a:rPr>
              <a:t>&lt;&lt;"Function with no parameter no return value";</a:t>
            </a:r>
          </a:p>
          <a:p>
            <a:pPr marL="0" indent="0">
              <a:buNone/>
            </a:pPr>
            <a:r>
              <a:rPr lang="en-IN" sz="14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sz="1400" dirty="0">
                <a:latin typeface="Consolas" panose="020B0609020204030204" pitchFamily="49" charset="0"/>
              </a:rPr>
              <a:t>void main(){</a:t>
            </a:r>
          </a:p>
          <a:p>
            <a:pPr marL="0" indent="0">
              <a:buNone/>
            </a:pPr>
            <a:r>
              <a:rPr lang="en-IN" sz="1400" dirty="0">
                <a:latin typeface="Consolas" panose="020B0609020204030204" pitchFamily="49" charset="0"/>
              </a:rPr>
              <a:t>  </a:t>
            </a:r>
            <a:r>
              <a:rPr lang="en-IN" sz="1400" dirty="0" err="1">
                <a:latin typeface="Consolas" panose="020B0609020204030204" pitchFamily="49" charset="0"/>
              </a:rPr>
              <a:t>displayMessage</a:t>
            </a:r>
            <a:r>
              <a:rPr lang="en-IN" sz="1400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IN" sz="14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9CF555-DF10-483F-AC44-079138FF7F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4424" y="1307088"/>
            <a:ext cx="5872884" cy="823912"/>
          </a:xfrm>
        </p:spPr>
        <p:txBody>
          <a:bodyPr/>
          <a:lstStyle/>
          <a:p>
            <a:r>
              <a:rPr lang="en-IN" dirty="0"/>
              <a:t>With No Parameter but Return Value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C7485B-5340-4391-A33E-98DB7CCC84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131000"/>
            <a:ext cx="5872882" cy="36845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400" dirty="0">
                <a:latin typeface="Consolas" panose="020B0609020204030204" pitchFamily="49" charset="0"/>
              </a:rPr>
              <a:t>#include&lt;</a:t>
            </a:r>
            <a:r>
              <a:rPr lang="en-IN" sz="1400" dirty="0" err="1">
                <a:latin typeface="Consolas" panose="020B0609020204030204" pitchFamily="49" charset="0"/>
              </a:rPr>
              <a:t>stdio.h</a:t>
            </a:r>
            <a:r>
              <a:rPr lang="en-IN" sz="1400" dirty="0"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IN" sz="1400" dirty="0">
                <a:latin typeface="Consolas" panose="020B0609020204030204" pitchFamily="49" charset="0"/>
              </a:rPr>
              <a:t>int </a:t>
            </a:r>
            <a:r>
              <a:rPr lang="en-IN" sz="1400" dirty="0" err="1">
                <a:latin typeface="Consolas" panose="020B0609020204030204" pitchFamily="49" charset="0"/>
              </a:rPr>
              <a:t>getUserInt</a:t>
            </a:r>
            <a:r>
              <a:rPr lang="en-IN" sz="1400" dirty="0">
                <a:latin typeface="Consolas" panose="020B0609020204030204" pitchFamily="49" charset="0"/>
              </a:rPr>
              <a:t>(){</a:t>
            </a:r>
          </a:p>
          <a:p>
            <a:pPr marL="0" indent="0">
              <a:buNone/>
            </a:pPr>
            <a:r>
              <a:rPr lang="en-IN" sz="1400" dirty="0">
                <a:latin typeface="Consolas" panose="020B0609020204030204" pitchFamily="49" charset="0"/>
              </a:rPr>
              <a:t>  int x;</a:t>
            </a:r>
          </a:p>
          <a:p>
            <a:pPr marL="0" indent="0">
              <a:buNone/>
            </a:pPr>
            <a:r>
              <a:rPr lang="en-IN" sz="1400" dirty="0">
                <a:latin typeface="Consolas" panose="020B0609020204030204" pitchFamily="49" charset="0"/>
              </a:rPr>
              <a:t>  </a:t>
            </a:r>
            <a:r>
              <a:rPr lang="en-IN" sz="1400" dirty="0" err="1">
                <a:latin typeface="Consolas" panose="020B0609020204030204" pitchFamily="49" charset="0"/>
              </a:rPr>
              <a:t>cout</a:t>
            </a:r>
            <a:r>
              <a:rPr lang="en-IN" sz="1400" dirty="0">
                <a:latin typeface="Consolas" panose="020B0609020204030204" pitchFamily="49" charset="0"/>
              </a:rPr>
              <a:t>&lt;&lt;"Enter an integer value";</a:t>
            </a:r>
          </a:p>
          <a:p>
            <a:pPr marL="0" indent="0">
              <a:buNone/>
            </a:pPr>
            <a:r>
              <a:rPr lang="en-IN" sz="1400" dirty="0">
                <a:latin typeface="Consolas" panose="020B0609020204030204" pitchFamily="49" charset="0"/>
              </a:rPr>
              <a:t>  </a:t>
            </a:r>
            <a:r>
              <a:rPr lang="en-IN" sz="1400" dirty="0" err="1">
                <a:latin typeface="Consolas" panose="020B0609020204030204" pitchFamily="49" charset="0"/>
              </a:rPr>
              <a:t>cin</a:t>
            </a:r>
            <a:r>
              <a:rPr lang="en-IN" sz="1400" dirty="0">
                <a:latin typeface="Consolas" panose="020B0609020204030204" pitchFamily="49" charset="0"/>
              </a:rPr>
              <a:t>&gt;&gt;x;</a:t>
            </a:r>
          </a:p>
          <a:p>
            <a:pPr marL="0" indent="0">
              <a:buNone/>
            </a:pPr>
            <a:r>
              <a:rPr lang="en-IN" sz="1400" dirty="0">
                <a:latin typeface="Consolas" panose="020B0609020204030204" pitchFamily="49" charset="0"/>
              </a:rPr>
              <a:t>  return x;</a:t>
            </a:r>
          </a:p>
          <a:p>
            <a:pPr marL="0" indent="0">
              <a:buNone/>
            </a:pPr>
            <a:r>
              <a:rPr lang="en-IN" sz="14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sz="1400" dirty="0">
                <a:latin typeface="Consolas" panose="020B0609020204030204" pitchFamily="49" charset="0"/>
              </a:rPr>
              <a:t>void main(){</a:t>
            </a:r>
          </a:p>
          <a:p>
            <a:pPr marL="0" indent="0">
              <a:buNone/>
            </a:pPr>
            <a:r>
              <a:rPr lang="en-IN" sz="1400" dirty="0">
                <a:latin typeface="Consolas" panose="020B0609020204030204" pitchFamily="49" charset="0"/>
              </a:rPr>
              <a:t>  int x = </a:t>
            </a:r>
            <a:r>
              <a:rPr lang="en-IN" sz="1400" dirty="0" err="1">
                <a:latin typeface="Consolas" panose="020B0609020204030204" pitchFamily="49" charset="0"/>
              </a:rPr>
              <a:t>getUserInt</a:t>
            </a:r>
            <a:r>
              <a:rPr lang="en-IN" sz="1400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IN" sz="1400" dirty="0">
                <a:latin typeface="Consolas" panose="020B0609020204030204" pitchFamily="49" charset="0"/>
              </a:rPr>
              <a:t>  </a:t>
            </a:r>
            <a:r>
              <a:rPr lang="en-IN" sz="1400" dirty="0" err="1">
                <a:latin typeface="Consolas" panose="020B0609020204030204" pitchFamily="49" charset="0"/>
              </a:rPr>
              <a:t>cout</a:t>
            </a:r>
            <a:r>
              <a:rPr lang="en-IN" sz="1400" dirty="0">
                <a:latin typeface="Consolas" panose="020B0609020204030204" pitchFamily="49" charset="0"/>
              </a:rPr>
              <a:t>&lt;&lt;“\</a:t>
            </a:r>
            <a:r>
              <a:rPr lang="en-IN" sz="1400" dirty="0" err="1">
                <a:latin typeface="Consolas" panose="020B0609020204030204" pitchFamily="49" charset="0"/>
              </a:rPr>
              <a:t>nx</a:t>
            </a:r>
            <a:r>
              <a:rPr lang="en-IN" sz="1400" dirty="0">
                <a:latin typeface="Consolas" panose="020B0609020204030204" pitchFamily="49" charset="0"/>
              </a:rPr>
              <a:t>=”&lt;&lt;x;</a:t>
            </a:r>
          </a:p>
          <a:p>
            <a:pPr marL="0" indent="0">
              <a:buNone/>
            </a:pPr>
            <a:r>
              <a:rPr lang="en-IN" sz="14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240502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5873F-8B5E-4BCC-B63D-5CF3F280A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8755"/>
            <a:ext cx="10515600" cy="1325563"/>
          </a:xfrm>
        </p:spPr>
        <p:txBody>
          <a:bodyPr/>
          <a:lstStyle/>
          <a:p>
            <a:r>
              <a:rPr lang="en-IN" dirty="0"/>
              <a:t>Categories of Functions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43626B-5870-4BFF-A382-B8DB21201C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256" y="1334793"/>
            <a:ext cx="5831320" cy="823912"/>
          </a:xfrm>
        </p:spPr>
        <p:txBody>
          <a:bodyPr/>
          <a:lstStyle/>
          <a:p>
            <a:r>
              <a:rPr lang="en-IN" dirty="0"/>
              <a:t>With Parameter(s) but No Return Value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1253B2-CAA3-4D15-9D46-6882A12163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6256" y="2158705"/>
            <a:ext cx="5831320" cy="36845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400" dirty="0">
                <a:latin typeface="Consolas" panose="020B0609020204030204" pitchFamily="49" charset="0"/>
              </a:rPr>
              <a:t>#include&lt;</a:t>
            </a:r>
            <a:r>
              <a:rPr lang="en-IN" sz="1400" dirty="0" err="1">
                <a:latin typeface="Consolas" panose="020B0609020204030204" pitchFamily="49" charset="0"/>
              </a:rPr>
              <a:t>stdio.h</a:t>
            </a:r>
            <a:r>
              <a:rPr lang="en-IN" sz="1400" dirty="0"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IN" sz="1400" dirty="0">
                <a:latin typeface="Consolas" panose="020B0609020204030204" pitchFamily="49" charset="0"/>
              </a:rPr>
              <a:t>void </a:t>
            </a:r>
            <a:r>
              <a:rPr lang="en-IN" sz="1400" dirty="0" err="1">
                <a:latin typeface="Consolas" panose="020B0609020204030204" pitchFamily="49" charset="0"/>
              </a:rPr>
              <a:t>displayValue</a:t>
            </a:r>
            <a:r>
              <a:rPr lang="en-IN" sz="1400" dirty="0">
                <a:latin typeface="Consolas" panose="020B0609020204030204" pitchFamily="49" charset="0"/>
              </a:rPr>
              <a:t>(int x){</a:t>
            </a:r>
          </a:p>
          <a:p>
            <a:pPr marL="0" indent="0">
              <a:buNone/>
            </a:pPr>
            <a:r>
              <a:rPr lang="en-US" sz="1400" dirty="0">
                <a:latin typeface="Consolas" panose="020B0609020204030204" pitchFamily="49" charset="0"/>
              </a:rPr>
              <a:t>  </a:t>
            </a:r>
            <a:r>
              <a:rPr lang="en-US" sz="1400" dirty="0" err="1">
                <a:latin typeface="Consolas" panose="020B0609020204030204" pitchFamily="49" charset="0"/>
              </a:rPr>
              <a:t>cout</a:t>
            </a:r>
            <a:r>
              <a:rPr lang="en-US" sz="1400" dirty="0">
                <a:latin typeface="Consolas" panose="020B0609020204030204" pitchFamily="49" charset="0"/>
              </a:rPr>
              <a:t>&lt;&lt;"Value for x is %d", x);</a:t>
            </a:r>
          </a:p>
          <a:p>
            <a:pPr marL="0" indent="0">
              <a:buNone/>
            </a:pPr>
            <a:r>
              <a:rPr lang="en-IN" sz="14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sz="1400" dirty="0">
                <a:latin typeface="Consolas" panose="020B0609020204030204" pitchFamily="49" charset="0"/>
              </a:rPr>
              <a:t>void main(){</a:t>
            </a:r>
          </a:p>
          <a:p>
            <a:pPr marL="0" indent="0">
              <a:buNone/>
            </a:pPr>
            <a:r>
              <a:rPr lang="en-IN" sz="1400" dirty="0">
                <a:latin typeface="Consolas" panose="020B0609020204030204" pitchFamily="49" charset="0"/>
              </a:rPr>
              <a:t>  </a:t>
            </a:r>
            <a:r>
              <a:rPr lang="en-IN" sz="1400" dirty="0" err="1">
                <a:latin typeface="Consolas" panose="020B0609020204030204" pitchFamily="49" charset="0"/>
              </a:rPr>
              <a:t>displayValue</a:t>
            </a:r>
            <a:r>
              <a:rPr lang="en-IN" sz="1400" dirty="0">
                <a:latin typeface="Consolas" panose="020B0609020204030204" pitchFamily="49" charset="0"/>
              </a:rPr>
              <a:t>(7);</a:t>
            </a:r>
          </a:p>
          <a:p>
            <a:pPr marL="0" indent="0">
              <a:buNone/>
            </a:pPr>
            <a:r>
              <a:rPr lang="en-IN" sz="14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9CF555-DF10-483F-AC44-079138FF7F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334793"/>
            <a:ext cx="5831318" cy="823912"/>
          </a:xfrm>
        </p:spPr>
        <p:txBody>
          <a:bodyPr/>
          <a:lstStyle/>
          <a:p>
            <a:r>
              <a:rPr lang="en-IN" dirty="0"/>
              <a:t>With Parameter(s) and Return Value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C7485B-5340-4391-A33E-98DB7CCC84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158705"/>
            <a:ext cx="5831319" cy="36845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400" dirty="0">
                <a:latin typeface="Consolas" panose="020B0609020204030204" pitchFamily="49" charset="0"/>
              </a:rPr>
              <a:t>#include&lt;</a:t>
            </a:r>
            <a:r>
              <a:rPr lang="en-IN" sz="1400" dirty="0" err="1">
                <a:latin typeface="Consolas" panose="020B0609020204030204" pitchFamily="49" charset="0"/>
              </a:rPr>
              <a:t>stdio.h</a:t>
            </a:r>
            <a:r>
              <a:rPr lang="en-IN" sz="1400" dirty="0"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IN" sz="1400" dirty="0">
                <a:latin typeface="Consolas" panose="020B0609020204030204" pitchFamily="49" charset="0"/>
              </a:rPr>
              <a:t>int </a:t>
            </a:r>
            <a:r>
              <a:rPr lang="en-IN" sz="1400" dirty="0" err="1">
                <a:latin typeface="Consolas" panose="020B0609020204030204" pitchFamily="49" charset="0"/>
              </a:rPr>
              <a:t>squareInt</a:t>
            </a:r>
            <a:r>
              <a:rPr lang="en-IN" sz="1400" dirty="0">
                <a:latin typeface="Consolas" panose="020B0609020204030204" pitchFamily="49" charset="0"/>
              </a:rPr>
              <a:t>(int x){</a:t>
            </a:r>
          </a:p>
          <a:p>
            <a:pPr marL="0" indent="0">
              <a:buNone/>
            </a:pPr>
            <a:r>
              <a:rPr lang="en-IN" sz="1400" dirty="0">
                <a:latin typeface="Consolas" panose="020B0609020204030204" pitchFamily="49" charset="0"/>
              </a:rPr>
              <a:t>  int </a:t>
            </a:r>
            <a:r>
              <a:rPr lang="en-IN" sz="1400" dirty="0" err="1">
                <a:latin typeface="Consolas" panose="020B0609020204030204" pitchFamily="49" charset="0"/>
              </a:rPr>
              <a:t>squar</a:t>
            </a:r>
            <a:r>
              <a:rPr lang="en-IN" sz="14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400" dirty="0">
                <a:latin typeface="Consolas" panose="020B0609020204030204" pitchFamily="49" charset="0"/>
              </a:rPr>
              <a:t>  </a:t>
            </a:r>
            <a:r>
              <a:rPr lang="en-IN" sz="1400" dirty="0" err="1">
                <a:latin typeface="Consolas" panose="020B0609020204030204" pitchFamily="49" charset="0"/>
              </a:rPr>
              <a:t>squar</a:t>
            </a:r>
            <a:r>
              <a:rPr lang="en-IN" sz="1400" dirty="0">
                <a:latin typeface="Consolas" panose="020B0609020204030204" pitchFamily="49" charset="0"/>
              </a:rPr>
              <a:t> = x * x;</a:t>
            </a:r>
          </a:p>
          <a:p>
            <a:pPr marL="0" indent="0">
              <a:buNone/>
            </a:pPr>
            <a:r>
              <a:rPr lang="en-IN" sz="1400" dirty="0">
                <a:latin typeface="Consolas" panose="020B0609020204030204" pitchFamily="49" charset="0"/>
              </a:rPr>
              <a:t>  return </a:t>
            </a:r>
            <a:r>
              <a:rPr lang="en-IN" sz="1400" dirty="0" err="1">
                <a:latin typeface="Consolas" panose="020B0609020204030204" pitchFamily="49" charset="0"/>
              </a:rPr>
              <a:t>squar</a:t>
            </a:r>
            <a:r>
              <a:rPr lang="en-IN" sz="14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4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sz="1400" dirty="0">
                <a:latin typeface="Consolas" panose="020B0609020204030204" pitchFamily="49" charset="0"/>
              </a:rPr>
              <a:t>void main(){</a:t>
            </a:r>
          </a:p>
          <a:p>
            <a:pPr marL="0" indent="0">
              <a:buNone/>
            </a:pPr>
            <a:r>
              <a:rPr lang="en-IN" sz="1400" dirty="0">
                <a:latin typeface="Consolas" panose="020B0609020204030204" pitchFamily="49" charset="0"/>
              </a:rPr>
              <a:t>  int </a:t>
            </a:r>
            <a:r>
              <a:rPr lang="en-IN" sz="1400" dirty="0" err="1">
                <a:latin typeface="Consolas" panose="020B0609020204030204" pitchFamily="49" charset="0"/>
              </a:rPr>
              <a:t>sq</a:t>
            </a:r>
            <a:r>
              <a:rPr lang="en-IN" sz="14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400" dirty="0">
                <a:latin typeface="Consolas" panose="020B0609020204030204" pitchFamily="49" charset="0"/>
              </a:rPr>
              <a:t>  </a:t>
            </a:r>
            <a:r>
              <a:rPr lang="en-IN" sz="1400" dirty="0" err="1">
                <a:latin typeface="Consolas" panose="020B0609020204030204" pitchFamily="49" charset="0"/>
              </a:rPr>
              <a:t>sq</a:t>
            </a:r>
            <a:r>
              <a:rPr lang="en-IN" sz="1400" dirty="0">
                <a:latin typeface="Consolas" panose="020B0609020204030204" pitchFamily="49" charset="0"/>
              </a:rPr>
              <a:t> = </a:t>
            </a:r>
            <a:r>
              <a:rPr lang="en-IN" sz="1400" dirty="0" err="1">
                <a:latin typeface="Consolas" panose="020B0609020204030204" pitchFamily="49" charset="0"/>
              </a:rPr>
              <a:t>squareInt</a:t>
            </a:r>
            <a:r>
              <a:rPr lang="en-IN" sz="1400" dirty="0">
                <a:latin typeface="Consolas" panose="020B0609020204030204" pitchFamily="49" charset="0"/>
              </a:rPr>
              <a:t>(5);</a:t>
            </a:r>
          </a:p>
          <a:p>
            <a:pPr marL="0" indent="0">
              <a:buNone/>
            </a:pPr>
            <a:r>
              <a:rPr lang="en-IN" sz="1400" dirty="0">
                <a:latin typeface="Consolas" panose="020B0609020204030204" pitchFamily="49" charset="0"/>
              </a:rPr>
              <a:t>  </a:t>
            </a:r>
            <a:r>
              <a:rPr lang="en-IN" sz="1400" dirty="0" err="1">
                <a:latin typeface="Consolas" panose="020B0609020204030204" pitchFamily="49" charset="0"/>
              </a:rPr>
              <a:t>cout</a:t>
            </a:r>
            <a:r>
              <a:rPr lang="en-IN" sz="1400" dirty="0">
                <a:latin typeface="Consolas" panose="020B0609020204030204" pitchFamily="49" charset="0"/>
              </a:rPr>
              <a:t>&lt;&lt;“\</a:t>
            </a:r>
            <a:r>
              <a:rPr lang="en-IN" sz="1400" dirty="0" err="1">
                <a:latin typeface="Consolas" panose="020B0609020204030204" pitchFamily="49" charset="0"/>
              </a:rPr>
              <a:t>nSquare</a:t>
            </a:r>
            <a:r>
              <a:rPr lang="en-IN" sz="1400" dirty="0">
                <a:latin typeface="Consolas" panose="020B0609020204030204" pitchFamily="49" charset="0"/>
              </a:rPr>
              <a:t> of 5 is %d”, </a:t>
            </a:r>
            <a:r>
              <a:rPr lang="en-IN" sz="1400" dirty="0" err="1">
                <a:latin typeface="Consolas" panose="020B0609020204030204" pitchFamily="49" charset="0"/>
              </a:rPr>
              <a:t>sq</a:t>
            </a:r>
            <a:r>
              <a:rPr lang="en-IN" sz="14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4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813344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893C2-167E-40AD-8059-80DEB92BC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Function Calls / Parameter Passing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695E00-2AD6-4072-8989-6F7A41E0D9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There are two methods to pass the arguments to the function:</a:t>
            </a:r>
          </a:p>
          <a:p>
            <a:pPr lvl="1"/>
            <a:r>
              <a:rPr lang="en-IN" dirty="0"/>
              <a:t>Parameter passing by value (Call By Value)</a:t>
            </a:r>
          </a:p>
          <a:p>
            <a:pPr lvl="1"/>
            <a:r>
              <a:rPr lang="en-IN" dirty="0"/>
              <a:t>Parameter passing by reference (Call By Reference)</a:t>
            </a:r>
          </a:p>
          <a:p>
            <a:r>
              <a:rPr lang="en-IN" dirty="0"/>
              <a:t>For each method, the type of parameter that is passed varies.</a:t>
            </a:r>
          </a:p>
        </p:txBody>
      </p:sp>
    </p:spTree>
    <p:extLst>
      <p:ext uri="{BB962C8B-B14F-4D97-AF65-F5344CB8AC3E}">
        <p14:creationId xmlns:p14="http://schemas.microsoft.com/office/powerpoint/2010/main" val="28765379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DB81-9C8C-4C9B-9A19-D1B2E949F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Function Call – Call By Value / Parameter Passing By 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13504-6661-429D-9564-37FFE6E41D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Call By Value is the method where the function creates a copy of the variables passed as argument and performs all the operations on the copy of variables. </a:t>
            </a:r>
          </a:p>
          <a:p>
            <a:r>
              <a:rPr lang="en-IN" dirty="0"/>
              <a:t>The actual arguments remain unchanged while the operations are performed by function.</a:t>
            </a:r>
          </a:p>
          <a:p>
            <a:r>
              <a:rPr lang="en-IN" dirty="0"/>
              <a:t>The changes can be reflected to the original by returning the values and then modifying the original values.</a:t>
            </a:r>
          </a:p>
        </p:txBody>
      </p:sp>
    </p:spTree>
    <p:extLst>
      <p:ext uri="{BB962C8B-B14F-4D97-AF65-F5344CB8AC3E}">
        <p14:creationId xmlns:p14="http://schemas.microsoft.com/office/powerpoint/2010/main" val="25829254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DB81-9C8C-4C9B-9A19-D1B2E949F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Function Call – Call By Value / Parameter Passing By Value : 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686FC9-822C-41AF-8AAD-06C9FFCA0A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200" dirty="0">
                <a:latin typeface="Consolas" panose="020B0609020204030204" pitchFamily="49" charset="0"/>
              </a:rPr>
              <a:t>#include &lt;</a:t>
            </a:r>
            <a:r>
              <a:rPr lang="en-IN" sz="1200" dirty="0" err="1">
                <a:latin typeface="Consolas" panose="020B0609020204030204" pitchFamily="49" charset="0"/>
              </a:rPr>
              <a:t>stdio.h</a:t>
            </a:r>
            <a:r>
              <a:rPr lang="en-IN" sz="1200" dirty="0">
                <a:latin typeface="Consolas" panose="020B0609020204030204" pitchFamily="49" charset="0"/>
              </a:rPr>
              <a:t>&gt;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endParaRPr lang="en-IN" sz="12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200" dirty="0">
                <a:latin typeface="Consolas" panose="020B0609020204030204" pitchFamily="49" charset="0"/>
              </a:rPr>
              <a:t>void add5(int x){</a:t>
            </a:r>
          </a:p>
          <a:p>
            <a:pPr marL="45720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200" dirty="0">
                <a:latin typeface="Consolas" panose="020B0609020204030204" pitchFamily="49" charset="0"/>
              </a:rPr>
              <a:t>x = x + 5;</a:t>
            </a:r>
          </a:p>
          <a:p>
            <a:pPr marL="45720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200" dirty="0" err="1">
                <a:latin typeface="Consolas" panose="020B0609020204030204" pitchFamily="49" charset="0"/>
              </a:rPr>
              <a:t>cout</a:t>
            </a:r>
            <a:r>
              <a:rPr lang="en-IN" sz="1200" dirty="0">
                <a:latin typeface="Consolas" panose="020B0609020204030204" pitchFamily="49" charset="0"/>
              </a:rPr>
              <a:t>&lt;&lt;“\n x = “&lt;&lt;x;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2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endParaRPr lang="en-IN" sz="12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200" dirty="0">
                <a:latin typeface="Consolas" panose="020B0609020204030204" pitchFamily="49" charset="0"/>
              </a:rPr>
              <a:t>int main(){</a:t>
            </a:r>
          </a:p>
          <a:p>
            <a:pPr marL="45720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200" dirty="0">
                <a:latin typeface="Consolas" panose="020B0609020204030204" pitchFamily="49" charset="0"/>
              </a:rPr>
              <a:t>int a;</a:t>
            </a:r>
          </a:p>
          <a:p>
            <a:pPr marL="45720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dirty="0" err="1">
                <a:latin typeface="Consolas" panose="020B0609020204030204" pitchFamily="49" charset="0"/>
              </a:rPr>
              <a:t>cout</a:t>
            </a:r>
            <a:r>
              <a:rPr lang="en-US" sz="1200" dirty="0">
                <a:latin typeface="Consolas" panose="020B0609020204030204" pitchFamily="49" charset="0"/>
              </a:rPr>
              <a:t>&lt;&lt;"Enter the values for a : ";</a:t>
            </a:r>
          </a:p>
          <a:p>
            <a:pPr marL="45720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it-IT" sz="1200" dirty="0">
                <a:latin typeface="Consolas" panose="020B0609020204030204" pitchFamily="49" charset="0"/>
              </a:rPr>
              <a:t>cin&gt;&gt;a;//Assuming entered value is 5</a:t>
            </a:r>
          </a:p>
          <a:p>
            <a:pPr marL="45720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200" dirty="0">
                <a:latin typeface="Consolas" panose="020B0609020204030204" pitchFamily="49" charset="0"/>
              </a:rPr>
              <a:t>add5(a);</a:t>
            </a:r>
          </a:p>
          <a:p>
            <a:pPr marL="45720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dirty="0" err="1">
                <a:latin typeface="Consolas" panose="020B0609020204030204" pitchFamily="49" charset="0"/>
              </a:rPr>
              <a:t>cout</a:t>
            </a:r>
            <a:r>
              <a:rPr lang="en-US" sz="1200" dirty="0">
                <a:latin typeface="Consolas" panose="020B0609020204030204" pitchFamily="49" charset="0"/>
              </a:rPr>
              <a:t>&lt;&lt;“\n a = “&lt;&lt;a;</a:t>
            </a:r>
          </a:p>
          <a:p>
            <a:pPr marL="45720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dirty="0">
                <a:latin typeface="Consolas" panose="020B0609020204030204" pitchFamily="49" charset="0"/>
              </a:rPr>
              <a:t>return 0;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2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A2B17B-8DC3-4D41-A717-35F04D9C64F8}"/>
              </a:ext>
            </a:extLst>
          </p:cNvPr>
          <p:cNvSpPr/>
          <p:nvPr/>
        </p:nvSpPr>
        <p:spPr>
          <a:xfrm>
            <a:off x="7849772" y="2391508"/>
            <a:ext cx="787791" cy="7315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F622F5-0345-4529-9A3A-1EB369D74B53}"/>
              </a:ext>
            </a:extLst>
          </p:cNvPr>
          <p:cNvSpPr txBox="1"/>
          <p:nvPr/>
        </p:nvSpPr>
        <p:spPr>
          <a:xfrm>
            <a:off x="7849772" y="2124222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x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DED5277-8EB6-4925-9A2B-64E7A5E8D931}"/>
              </a:ext>
            </a:extLst>
          </p:cNvPr>
          <p:cNvGrpSpPr/>
          <p:nvPr/>
        </p:nvGrpSpPr>
        <p:grpSpPr>
          <a:xfrm>
            <a:off x="7849771" y="3752502"/>
            <a:ext cx="787791" cy="1368138"/>
            <a:chOff x="7849772" y="2124222"/>
            <a:chExt cx="787791" cy="136813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B87B34D-C7A5-48E0-BD5A-20BC05ECBD38}"/>
                </a:ext>
              </a:extLst>
            </p:cNvPr>
            <p:cNvSpPr/>
            <p:nvPr/>
          </p:nvSpPr>
          <p:spPr>
            <a:xfrm>
              <a:off x="7849772" y="2391508"/>
              <a:ext cx="787791" cy="73152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5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1307FE9-0F1B-415B-BE39-D4A236F62DE5}"/>
                </a:ext>
              </a:extLst>
            </p:cNvPr>
            <p:cNvSpPr txBox="1"/>
            <p:nvPr/>
          </p:nvSpPr>
          <p:spPr>
            <a:xfrm>
              <a:off x="7849772" y="2124222"/>
              <a:ext cx="2952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a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98BC82D-DFEA-4260-A486-3FBFADC4C24A}"/>
                </a:ext>
              </a:extLst>
            </p:cNvPr>
            <p:cNvSpPr txBox="1"/>
            <p:nvPr/>
          </p:nvSpPr>
          <p:spPr>
            <a:xfrm>
              <a:off x="7849772" y="3123028"/>
              <a:ext cx="6611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2000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29E6DA40-D777-4A83-A96F-279C358299D3}"/>
              </a:ext>
            </a:extLst>
          </p:cNvPr>
          <p:cNvSpPr txBox="1"/>
          <p:nvPr/>
        </p:nvSpPr>
        <p:spPr>
          <a:xfrm>
            <a:off x="7814454" y="3068433"/>
            <a:ext cx="661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5000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398061F-44B2-4CFD-908E-8B09C149926E}"/>
              </a:ext>
            </a:extLst>
          </p:cNvPr>
          <p:cNvSpPr/>
          <p:nvPr/>
        </p:nvSpPr>
        <p:spPr>
          <a:xfrm>
            <a:off x="7829952" y="2395080"/>
            <a:ext cx="787791" cy="7315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10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28F5E291-947D-4F0F-B7F2-33828C63FF2D}"/>
              </a:ext>
            </a:extLst>
          </p:cNvPr>
          <p:cNvSpPr/>
          <p:nvPr/>
        </p:nvSpPr>
        <p:spPr>
          <a:xfrm rot="10800000" flipV="1">
            <a:off x="5308211" y="4284809"/>
            <a:ext cx="863991" cy="201478"/>
          </a:xfrm>
          <a:prstGeom prst="rightArrow">
            <a:avLst/>
          </a:prstGeom>
          <a:ln>
            <a:solidFill>
              <a:srgbClr val="C0000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858F0CE7-77E8-42EA-AF46-4FFF7F76EAEC}"/>
              </a:ext>
            </a:extLst>
          </p:cNvPr>
          <p:cNvSpPr/>
          <p:nvPr/>
        </p:nvSpPr>
        <p:spPr>
          <a:xfrm rot="10800000" flipV="1">
            <a:off x="2209214" y="4486288"/>
            <a:ext cx="863991" cy="201478"/>
          </a:xfrm>
          <a:prstGeom prst="rightArrow">
            <a:avLst/>
          </a:prstGeom>
          <a:ln>
            <a:solidFill>
              <a:srgbClr val="C0000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04116AFF-9A65-477A-A92D-B2711597CD6F}"/>
              </a:ext>
            </a:extLst>
          </p:cNvPr>
          <p:cNvSpPr/>
          <p:nvPr/>
        </p:nvSpPr>
        <p:spPr>
          <a:xfrm rot="10800000" flipV="1">
            <a:off x="2641209" y="2299354"/>
            <a:ext cx="863991" cy="201478"/>
          </a:xfrm>
          <a:prstGeom prst="rightArrow">
            <a:avLst/>
          </a:prstGeom>
          <a:ln>
            <a:solidFill>
              <a:srgbClr val="C0000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DEA5509D-7733-4910-8EDE-AC3728703003}"/>
              </a:ext>
            </a:extLst>
          </p:cNvPr>
          <p:cNvSpPr/>
          <p:nvPr/>
        </p:nvSpPr>
        <p:spPr>
          <a:xfrm rot="10800000" flipV="1">
            <a:off x="2641209" y="2582676"/>
            <a:ext cx="863991" cy="201478"/>
          </a:xfrm>
          <a:prstGeom prst="rightArrow">
            <a:avLst/>
          </a:prstGeom>
          <a:ln>
            <a:solidFill>
              <a:srgbClr val="C0000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7052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8" grpId="0"/>
      <p:bldP spid="16" grpId="0"/>
      <p:bldP spid="17" grpId="0" animBg="1"/>
      <p:bldP spid="18" grpId="0" animBg="1"/>
      <p:bldP spid="18" grpId="1" animBg="1"/>
      <p:bldP spid="19" grpId="0" animBg="1"/>
      <p:bldP spid="19" grpId="1" animBg="1"/>
      <p:bldP spid="19" grpId="2" animBg="1"/>
      <p:bldP spid="20" grpId="0" animBg="1"/>
      <p:bldP spid="20" grpId="1" animBg="1"/>
      <p:bldP spid="21" grpId="0" animBg="1"/>
      <p:bldP spid="21" grpId="1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6E92F-876C-4865-A3A5-E80D5B46C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Function Calls – Call By Address / Parameter Passing By Address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EAB914-274D-456D-81B8-E6D1CD139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 call by address, the address of the variables are passed from the calling function to the called function.</a:t>
            </a:r>
          </a:p>
          <a:p>
            <a:r>
              <a:rPr lang="en-IN" dirty="0"/>
              <a:t>The called function stores the address using pointer variables.</a:t>
            </a:r>
          </a:p>
          <a:p>
            <a:r>
              <a:rPr lang="en-IN" dirty="0"/>
              <a:t>So the changes that are made in called function are made at the addresses of the same variables.</a:t>
            </a:r>
          </a:p>
          <a:p>
            <a:r>
              <a:rPr lang="en-IN" dirty="0"/>
              <a:t>Both the actual argument and the formal argument refer to the same memory location.</a:t>
            </a:r>
          </a:p>
        </p:txBody>
      </p:sp>
    </p:spTree>
    <p:extLst>
      <p:ext uri="{BB962C8B-B14F-4D97-AF65-F5344CB8AC3E}">
        <p14:creationId xmlns:p14="http://schemas.microsoft.com/office/powerpoint/2010/main" val="29711123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DB81-9C8C-4C9B-9A19-D1B2E949F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Function Call – Call By Address / Parameter Passing By Address : 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686FC9-822C-41AF-8AAD-06C9FFCA0A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200" dirty="0">
                <a:latin typeface="Consolas" panose="020B0609020204030204" pitchFamily="49" charset="0"/>
              </a:rPr>
              <a:t>#include &lt;</a:t>
            </a:r>
            <a:r>
              <a:rPr lang="en-IN" sz="1200" dirty="0" err="1">
                <a:latin typeface="Consolas" panose="020B0609020204030204" pitchFamily="49" charset="0"/>
              </a:rPr>
              <a:t>stdio.h</a:t>
            </a:r>
            <a:r>
              <a:rPr lang="en-IN" sz="1200" dirty="0">
                <a:latin typeface="Consolas" panose="020B0609020204030204" pitchFamily="49" charset="0"/>
              </a:rPr>
              <a:t>&gt;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endParaRPr lang="en-IN" sz="12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200" dirty="0">
                <a:latin typeface="Consolas" panose="020B0609020204030204" pitchFamily="49" charset="0"/>
              </a:rPr>
              <a:t>void add5(int *x){</a:t>
            </a:r>
          </a:p>
          <a:p>
            <a:pPr marL="45720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200" dirty="0">
                <a:latin typeface="Consolas" panose="020B0609020204030204" pitchFamily="49" charset="0"/>
              </a:rPr>
              <a:t>*x = *x + 5;</a:t>
            </a:r>
          </a:p>
          <a:p>
            <a:pPr marL="45720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200" dirty="0" err="1">
                <a:latin typeface="Consolas" panose="020B0609020204030204" pitchFamily="49" charset="0"/>
              </a:rPr>
              <a:t>cout</a:t>
            </a:r>
            <a:r>
              <a:rPr lang="en-IN" sz="1200" dirty="0">
                <a:latin typeface="Consolas" panose="020B0609020204030204" pitchFamily="49" charset="0"/>
              </a:rPr>
              <a:t>&lt;&lt;“\n x = ”&lt;&lt;x;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2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endParaRPr lang="en-IN" sz="12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200" dirty="0">
                <a:latin typeface="Consolas" panose="020B0609020204030204" pitchFamily="49" charset="0"/>
              </a:rPr>
              <a:t>int main(){</a:t>
            </a:r>
          </a:p>
          <a:p>
            <a:pPr marL="45720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200" dirty="0">
                <a:latin typeface="Consolas" panose="020B0609020204030204" pitchFamily="49" charset="0"/>
              </a:rPr>
              <a:t>int a;</a:t>
            </a:r>
          </a:p>
          <a:p>
            <a:pPr marL="45720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dirty="0" err="1">
                <a:latin typeface="Consolas" panose="020B0609020204030204" pitchFamily="49" charset="0"/>
              </a:rPr>
              <a:t>cout</a:t>
            </a:r>
            <a:r>
              <a:rPr lang="en-US" sz="1200" dirty="0">
                <a:latin typeface="Consolas" panose="020B0609020204030204" pitchFamily="49" charset="0"/>
              </a:rPr>
              <a:t>&lt;&lt;"Enter the values for a : ";</a:t>
            </a:r>
          </a:p>
          <a:p>
            <a:pPr marL="45720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it-IT" sz="1200" dirty="0">
                <a:latin typeface="Consolas" panose="020B0609020204030204" pitchFamily="49" charset="0"/>
              </a:rPr>
              <a:t>cin&gt;&gt;a;//Assuming entered value is 5</a:t>
            </a:r>
          </a:p>
          <a:p>
            <a:pPr marL="45720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200" dirty="0">
                <a:latin typeface="Consolas" panose="020B0609020204030204" pitchFamily="49" charset="0"/>
              </a:rPr>
              <a:t>add5(&amp;a);</a:t>
            </a:r>
          </a:p>
          <a:p>
            <a:pPr marL="45720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dirty="0" err="1">
                <a:latin typeface="Consolas" panose="020B0609020204030204" pitchFamily="49" charset="0"/>
              </a:rPr>
              <a:t>cout</a:t>
            </a:r>
            <a:r>
              <a:rPr lang="en-US" sz="1200" dirty="0">
                <a:latin typeface="Consolas" panose="020B0609020204030204" pitchFamily="49" charset="0"/>
              </a:rPr>
              <a:t>&lt;&lt;“\n a = “&lt;&lt;a;</a:t>
            </a:r>
          </a:p>
          <a:p>
            <a:pPr marL="45720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dirty="0">
                <a:latin typeface="Consolas" panose="020B0609020204030204" pitchFamily="49" charset="0"/>
              </a:rPr>
              <a:t>return 0;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2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545189-EF7C-4978-B966-AEC7019AD48A}"/>
              </a:ext>
            </a:extLst>
          </p:cNvPr>
          <p:cNvSpPr/>
          <p:nvPr/>
        </p:nvSpPr>
        <p:spPr>
          <a:xfrm>
            <a:off x="7849772" y="2391508"/>
            <a:ext cx="787791" cy="7315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2000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61E3FA-969A-4FC8-B14E-3B057F1D0392}"/>
              </a:ext>
            </a:extLst>
          </p:cNvPr>
          <p:cNvSpPr txBox="1"/>
          <p:nvPr/>
        </p:nvSpPr>
        <p:spPr>
          <a:xfrm>
            <a:off x="7849772" y="2124222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x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FE0A24-033D-490F-B5F9-687BC25ECA62}"/>
              </a:ext>
            </a:extLst>
          </p:cNvPr>
          <p:cNvSpPr/>
          <p:nvPr/>
        </p:nvSpPr>
        <p:spPr>
          <a:xfrm>
            <a:off x="7849771" y="4019788"/>
            <a:ext cx="787791" cy="7315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4D130E-42E7-4CED-8765-3D1236EE6F19}"/>
              </a:ext>
            </a:extLst>
          </p:cNvPr>
          <p:cNvSpPr txBox="1"/>
          <p:nvPr/>
        </p:nvSpPr>
        <p:spPr>
          <a:xfrm>
            <a:off x="7849771" y="3752502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7B2C59-BE70-4EF7-A861-363E8DA4AE48}"/>
              </a:ext>
            </a:extLst>
          </p:cNvPr>
          <p:cNvSpPr txBox="1"/>
          <p:nvPr/>
        </p:nvSpPr>
        <p:spPr>
          <a:xfrm>
            <a:off x="7849771" y="4751308"/>
            <a:ext cx="661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2000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7FA9DA-411E-4061-96A9-8992F7F57EF6}"/>
              </a:ext>
            </a:extLst>
          </p:cNvPr>
          <p:cNvSpPr txBox="1"/>
          <p:nvPr/>
        </p:nvSpPr>
        <p:spPr>
          <a:xfrm>
            <a:off x="7814454" y="3068433"/>
            <a:ext cx="661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5000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99F4738-2F7E-4793-8F10-F0290541D468}"/>
              </a:ext>
            </a:extLst>
          </p:cNvPr>
          <p:cNvSpPr/>
          <p:nvPr/>
        </p:nvSpPr>
        <p:spPr>
          <a:xfrm>
            <a:off x="7849771" y="4019788"/>
            <a:ext cx="787791" cy="7315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10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9DEAFEC-7DC4-41E0-95EE-E59A9F10DA1F}"/>
              </a:ext>
            </a:extLst>
          </p:cNvPr>
          <p:cNvCxnSpPr/>
          <p:nvPr/>
        </p:nvCxnSpPr>
        <p:spPr>
          <a:xfrm flipH="1">
            <a:off x="8475635" y="3123028"/>
            <a:ext cx="35317" cy="8967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91EF0E18-C67F-4AE4-BD53-581AAD6E3A5A}"/>
              </a:ext>
            </a:extLst>
          </p:cNvPr>
          <p:cNvSpPr/>
          <p:nvPr/>
        </p:nvSpPr>
        <p:spPr>
          <a:xfrm rot="10800000" flipV="1">
            <a:off x="5232009" y="4284809"/>
            <a:ext cx="863991" cy="201478"/>
          </a:xfrm>
          <a:prstGeom prst="rightArrow">
            <a:avLst/>
          </a:prstGeom>
          <a:ln>
            <a:solidFill>
              <a:srgbClr val="C0000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E197B720-2B2F-4A22-9F86-62F50F408268}"/>
              </a:ext>
            </a:extLst>
          </p:cNvPr>
          <p:cNvSpPr/>
          <p:nvPr/>
        </p:nvSpPr>
        <p:spPr>
          <a:xfrm rot="10800000" flipV="1">
            <a:off x="2253751" y="4509064"/>
            <a:ext cx="863991" cy="201478"/>
          </a:xfrm>
          <a:prstGeom prst="rightArrow">
            <a:avLst/>
          </a:prstGeom>
          <a:ln>
            <a:solidFill>
              <a:srgbClr val="C0000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53FEB34D-754B-42E7-9F52-E009BACD07A1}"/>
              </a:ext>
            </a:extLst>
          </p:cNvPr>
          <p:cNvSpPr/>
          <p:nvPr/>
        </p:nvSpPr>
        <p:spPr>
          <a:xfrm rot="10800000" flipV="1">
            <a:off x="2685746" y="2332495"/>
            <a:ext cx="863991" cy="201478"/>
          </a:xfrm>
          <a:prstGeom prst="rightArrow">
            <a:avLst/>
          </a:prstGeom>
          <a:ln>
            <a:solidFill>
              <a:srgbClr val="C0000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54814ACE-02FE-4CAF-A08D-CA23DB582CFC}"/>
              </a:ext>
            </a:extLst>
          </p:cNvPr>
          <p:cNvSpPr/>
          <p:nvPr/>
        </p:nvSpPr>
        <p:spPr>
          <a:xfrm rot="10800000" flipV="1">
            <a:off x="2685745" y="2577494"/>
            <a:ext cx="863991" cy="201478"/>
          </a:xfrm>
          <a:prstGeom prst="rightArrow">
            <a:avLst/>
          </a:prstGeom>
          <a:ln>
            <a:solidFill>
              <a:srgbClr val="C0000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3167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 animBg="1"/>
      <p:bldP spid="9" grpId="1" animBg="1"/>
      <p:bldP spid="10" grpId="0"/>
      <p:bldP spid="11" grpId="0"/>
      <p:bldP spid="12" grpId="0"/>
      <p:bldP spid="13" grpId="0" animBg="1"/>
      <p:bldP spid="16" grpId="0" animBg="1"/>
      <p:bldP spid="16" grpId="1" animBg="1"/>
      <p:bldP spid="17" grpId="0" animBg="1"/>
      <p:bldP spid="17" grpId="1" animBg="1"/>
      <p:bldP spid="17" grpId="2" animBg="1"/>
      <p:bldP spid="18" grpId="0" animBg="1"/>
      <p:bldP spid="18" grpId="1" animBg="1"/>
      <p:bldP spid="19" grpId="0" animBg="1"/>
      <p:bldP spid="19" grpId="1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A4F5D-7A5F-4F00-08D5-6ACAAD9CB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0F81A-7318-39EB-7D4B-66EE839D5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Function Calls – Call By Reference / Parameter Passing By Reference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30D44-BEBD-BEE7-E725-C9C3F4F10A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 call by reference, the reference to the variable is created from the calling function to the called function.</a:t>
            </a:r>
          </a:p>
          <a:p>
            <a:r>
              <a:rPr lang="en-IN" dirty="0"/>
              <a:t>The called function creates alias to the variable from called function</a:t>
            </a:r>
          </a:p>
          <a:p>
            <a:r>
              <a:rPr lang="en-IN" dirty="0"/>
              <a:t>So the changes that are made in called function are made for the same variables.</a:t>
            </a:r>
          </a:p>
          <a:p>
            <a:r>
              <a:rPr lang="en-IN" dirty="0"/>
              <a:t>Both the actual argument and the formal argument refer to the same memory location.</a:t>
            </a:r>
          </a:p>
        </p:txBody>
      </p:sp>
    </p:spTree>
    <p:extLst>
      <p:ext uri="{BB962C8B-B14F-4D97-AF65-F5344CB8AC3E}">
        <p14:creationId xmlns:p14="http://schemas.microsoft.com/office/powerpoint/2010/main" val="13401880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DB688-9AC8-7013-39A3-F350E4233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7D371-E3DB-EE43-1A29-F02C31812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Function Call – Call By Address / Parameter Passing By Address : 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112DE2-BCD9-303C-3F6E-1CD71BFB85E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200" dirty="0">
                <a:latin typeface="Consolas" panose="020B0609020204030204" pitchFamily="49" charset="0"/>
              </a:rPr>
              <a:t>#include &lt;</a:t>
            </a:r>
            <a:r>
              <a:rPr lang="en-IN" sz="1200" dirty="0" err="1">
                <a:latin typeface="Consolas" panose="020B0609020204030204" pitchFamily="49" charset="0"/>
              </a:rPr>
              <a:t>stdio.h</a:t>
            </a:r>
            <a:r>
              <a:rPr lang="en-IN" sz="1200" dirty="0">
                <a:latin typeface="Consolas" panose="020B0609020204030204" pitchFamily="49" charset="0"/>
              </a:rPr>
              <a:t>&gt;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endParaRPr lang="en-IN" sz="12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200" dirty="0">
                <a:latin typeface="Consolas" panose="020B0609020204030204" pitchFamily="49" charset="0"/>
              </a:rPr>
              <a:t>void add5(int &amp;x){</a:t>
            </a:r>
          </a:p>
          <a:p>
            <a:pPr marL="45720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200" dirty="0">
                <a:latin typeface="Consolas" panose="020B0609020204030204" pitchFamily="49" charset="0"/>
              </a:rPr>
              <a:t>x = x + 5;</a:t>
            </a:r>
          </a:p>
          <a:p>
            <a:pPr marL="45720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200" dirty="0" err="1">
                <a:latin typeface="Consolas" panose="020B0609020204030204" pitchFamily="49" charset="0"/>
              </a:rPr>
              <a:t>cout</a:t>
            </a:r>
            <a:r>
              <a:rPr lang="en-IN" sz="1200" dirty="0">
                <a:latin typeface="Consolas" panose="020B0609020204030204" pitchFamily="49" charset="0"/>
              </a:rPr>
              <a:t>&lt;&lt;“\n x = ”&lt;&lt;x;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2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endParaRPr lang="en-IN" sz="12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200" dirty="0">
                <a:latin typeface="Consolas" panose="020B0609020204030204" pitchFamily="49" charset="0"/>
              </a:rPr>
              <a:t>int main(){</a:t>
            </a:r>
          </a:p>
          <a:p>
            <a:pPr marL="45720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200" dirty="0">
                <a:latin typeface="Consolas" panose="020B0609020204030204" pitchFamily="49" charset="0"/>
              </a:rPr>
              <a:t>int a;</a:t>
            </a:r>
          </a:p>
          <a:p>
            <a:pPr marL="45720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dirty="0" err="1">
                <a:latin typeface="Consolas" panose="020B0609020204030204" pitchFamily="49" charset="0"/>
              </a:rPr>
              <a:t>cout</a:t>
            </a:r>
            <a:r>
              <a:rPr lang="en-US" sz="1200" dirty="0">
                <a:latin typeface="Consolas" panose="020B0609020204030204" pitchFamily="49" charset="0"/>
              </a:rPr>
              <a:t>&lt;&lt;"Enter the values for a : ";</a:t>
            </a:r>
          </a:p>
          <a:p>
            <a:pPr marL="45720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it-IT" sz="1200" dirty="0">
                <a:latin typeface="Consolas" panose="020B0609020204030204" pitchFamily="49" charset="0"/>
              </a:rPr>
              <a:t>cin&gt;&gt;a;//Assuming entered value is 5</a:t>
            </a:r>
          </a:p>
          <a:p>
            <a:pPr marL="45720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200" dirty="0">
                <a:latin typeface="Consolas" panose="020B0609020204030204" pitchFamily="49" charset="0"/>
              </a:rPr>
              <a:t>add5(a);</a:t>
            </a:r>
          </a:p>
          <a:p>
            <a:pPr marL="45720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dirty="0" err="1">
                <a:latin typeface="Consolas" panose="020B0609020204030204" pitchFamily="49" charset="0"/>
              </a:rPr>
              <a:t>cout</a:t>
            </a:r>
            <a:r>
              <a:rPr lang="en-US" sz="1200" dirty="0">
                <a:latin typeface="Consolas" panose="020B0609020204030204" pitchFamily="49" charset="0"/>
              </a:rPr>
              <a:t>&lt;&lt;“\n a = “&lt;&lt;a;</a:t>
            </a:r>
          </a:p>
          <a:p>
            <a:pPr marL="45720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dirty="0">
                <a:latin typeface="Consolas" panose="020B0609020204030204" pitchFamily="49" charset="0"/>
              </a:rPr>
              <a:t>return 0;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2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59FFE4-072A-B498-0792-7A0502D626F4}"/>
              </a:ext>
            </a:extLst>
          </p:cNvPr>
          <p:cNvSpPr txBox="1"/>
          <p:nvPr/>
        </p:nvSpPr>
        <p:spPr>
          <a:xfrm>
            <a:off x="8363315" y="2753696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x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54FF13-38C4-5380-8160-31DAA57A5C18}"/>
              </a:ext>
            </a:extLst>
          </p:cNvPr>
          <p:cNvSpPr/>
          <p:nvPr/>
        </p:nvSpPr>
        <p:spPr>
          <a:xfrm>
            <a:off x="7849771" y="4019788"/>
            <a:ext cx="787791" cy="7315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126FB5-ED27-F22E-2AF9-86F9BA68C0F7}"/>
              </a:ext>
            </a:extLst>
          </p:cNvPr>
          <p:cNvSpPr txBox="1"/>
          <p:nvPr/>
        </p:nvSpPr>
        <p:spPr>
          <a:xfrm>
            <a:off x="7849771" y="3752502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D94481-77B2-CAB5-D477-F027A4B7584F}"/>
              </a:ext>
            </a:extLst>
          </p:cNvPr>
          <p:cNvSpPr txBox="1"/>
          <p:nvPr/>
        </p:nvSpPr>
        <p:spPr>
          <a:xfrm>
            <a:off x="7849771" y="4751308"/>
            <a:ext cx="661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2000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B63F3B1-3763-5C65-D1F1-CB1AE296A817}"/>
              </a:ext>
            </a:extLst>
          </p:cNvPr>
          <p:cNvSpPr/>
          <p:nvPr/>
        </p:nvSpPr>
        <p:spPr>
          <a:xfrm>
            <a:off x="7849771" y="4019788"/>
            <a:ext cx="787791" cy="7315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10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292245E-6F70-21FF-8E04-03914D73E124}"/>
              </a:ext>
            </a:extLst>
          </p:cNvPr>
          <p:cNvCxnSpPr/>
          <p:nvPr/>
        </p:nvCxnSpPr>
        <p:spPr>
          <a:xfrm flipH="1">
            <a:off x="8475635" y="3123028"/>
            <a:ext cx="35317" cy="8967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2E04DEA0-60E6-3799-3C67-62CA25EBB18C}"/>
              </a:ext>
            </a:extLst>
          </p:cNvPr>
          <p:cNvSpPr/>
          <p:nvPr/>
        </p:nvSpPr>
        <p:spPr>
          <a:xfrm rot="10800000" flipV="1">
            <a:off x="5232009" y="4284809"/>
            <a:ext cx="863991" cy="201478"/>
          </a:xfrm>
          <a:prstGeom prst="rightArrow">
            <a:avLst/>
          </a:prstGeom>
          <a:ln>
            <a:solidFill>
              <a:srgbClr val="C0000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992CBC4E-90A7-BAAB-F129-6C564124AFB5}"/>
              </a:ext>
            </a:extLst>
          </p:cNvPr>
          <p:cNvSpPr/>
          <p:nvPr/>
        </p:nvSpPr>
        <p:spPr>
          <a:xfrm rot="10800000" flipV="1">
            <a:off x="2253751" y="4509064"/>
            <a:ext cx="863991" cy="201478"/>
          </a:xfrm>
          <a:prstGeom prst="rightArrow">
            <a:avLst/>
          </a:prstGeom>
          <a:ln>
            <a:solidFill>
              <a:srgbClr val="C0000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55717C2F-4006-BCA9-F649-C36A40CBA4AC}"/>
              </a:ext>
            </a:extLst>
          </p:cNvPr>
          <p:cNvSpPr/>
          <p:nvPr/>
        </p:nvSpPr>
        <p:spPr>
          <a:xfrm rot="10800000" flipV="1">
            <a:off x="2685746" y="2332495"/>
            <a:ext cx="863991" cy="201478"/>
          </a:xfrm>
          <a:prstGeom prst="rightArrow">
            <a:avLst/>
          </a:prstGeom>
          <a:ln>
            <a:solidFill>
              <a:srgbClr val="C0000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32BC796B-F215-1018-632F-4B037F935EF8}"/>
              </a:ext>
            </a:extLst>
          </p:cNvPr>
          <p:cNvSpPr/>
          <p:nvPr/>
        </p:nvSpPr>
        <p:spPr>
          <a:xfrm rot="10800000" flipV="1">
            <a:off x="2685745" y="2577494"/>
            <a:ext cx="863991" cy="201478"/>
          </a:xfrm>
          <a:prstGeom prst="rightArrow">
            <a:avLst/>
          </a:prstGeom>
          <a:ln>
            <a:solidFill>
              <a:srgbClr val="C0000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4618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 animBg="1"/>
      <p:bldP spid="9" grpId="1" animBg="1"/>
      <p:bldP spid="10" grpId="0"/>
      <p:bldP spid="11" grpId="0"/>
      <p:bldP spid="13" grpId="0" animBg="1"/>
      <p:bldP spid="16" grpId="0" animBg="1"/>
      <p:bldP spid="16" grpId="1" animBg="1"/>
      <p:bldP spid="17" grpId="0" animBg="1"/>
      <p:bldP spid="17" grpId="1" animBg="1"/>
      <p:bldP spid="17" grpId="2" animBg="1"/>
      <p:bldP spid="18" grpId="0" animBg="1"/>
      <p:bldP spid="18" grpId="1" animBg="1"/>
      <p:bldP spid="19" grpId="0" animBg="1"/>
      <p:bldP spid="19" grpId="1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33B46-A944-4679-9AF0-005CABFF3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Function Calls – Call By Value Vs Call By Address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F71C6C96-A73F-4E74-8665-30D9645A590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384556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73900883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93318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b="1" dirty="0"/>
                        <a:t>CALL BY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CALL BY 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26378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When a function is called the values of variables are passed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When a function is called the addresses of variables are passed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7653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 type of formal parameters should be same as type of actual parameters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 type of formal parameters should be pointer of type of actual parameters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29843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Formal parameters contains the values of actual parameters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Formal parameters contain the addresses of actual parameters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2522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Change of actual parameters in the function call will not affect the actual parameters in the calling function.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 actual parameters are changed since the formal parameters indirectly manipulate the actual parameters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83615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Execution is slower since all the values have to be copied into formal parameters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Execution is faster since only addresses are copied.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52293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20669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2F42F-C652-42A6-816D-5F8F691B2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2E462-9160-438C-8248-B1E04236F6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 Program to swap two numbers using call by value and call by reference</a:t>
            </a:r>
          </a:p>
        </p:txBody>
      </p:sp>
    </p:spTree>
    <p:extLst>
      <p:ext uri="{BB962C8B-B14F-4D97-AF65-F5344CB8AC3E}">
        <p14:creationId xmlns:p14="http://schemas.microsoft.com/office/powerpoint/2010/main" val="2914614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ctureTemplate.pptx" id="{872A0908-B4BE-42E9-B974-411477CD13A2}" vid="{74DED970-FDA3-40BF-97D9-3BC76A00F48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LectureTemplate</Template>
  <TotalTime>1970</TotalTime>
  <Words>2968</Words>
  <Application>Microsoft Office PowerPoint</Application>
  <PresentationFormat>Widescreen</PresentationFormat>
  <Paragraphs>524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Arial</vt:lpstr>
      <vt:lpstr>Calibri</vt:lpstr>
      <vt:lpstr>Calibri Light</vt:lpstr>
      <vt:lpstr>Consolas</vt:lpstr>
      <vt:lpstr>Office Theme</vt:lpstr>
      <vt:lpstr>C++ Programming</vt:lpstr>
      <vt:lpstr>Data Types in C++</vt:lpstr>
      <vt:lpstr>PowerPoint Presentation</vt:lpstr>
      <vt:lpstr>Pointers in C++</vt:lpstr>
      <vt:lpstr>What is Pointer</vt:lpstr>
      <vt:lpstr>Operators Associated With Pointer</vt:lpstr>
      <vt:lpstr>Declaration &amp; Initialization of Pointer</vt:lpstr>
      <vt:lpstr>Usage of Pointers</vt:lpstr>
      <vt:lpstr>Operations With Pointers / Pointer Arithmetic</vt:lpstr>
      <vt:lpstr>Operations With Pointers / Pointer Arithmetic</vt:lpstr>
      <vt:lpstr>Uses of Pointers</vt:lpstr>
      <vt:lpstr>Void Pointer</vt:lpstr>
      <vt:lpstr>Void Pointer : Uses &amp; Limitations</vt:lpstr>
      <vt:lpstr>NULL Pointer</vt:lpstr>
      <vt:lpstr>NULL Pointer : Uses</vt:lpstr>
      <vt:lpstr>References in C++</vt:lpstr>
      <vt:lpstr>References</vt:lpstr>
      <vt:lpstr>References : Example</vt:lpstr>
      <vt:lpstr>Functions in C++</vt:lpstr>
      <vt:lpstr>What are Functions</vt:lpstr>
      <vt:lpstr>Advantages of Function</vt:lpstr>
      <vt:lpstr>Types of Functions</vt:lpstr>
      <vt:lpstr>Function Components</vt:lpstr>
      <vt:lpstr>Example Program For Functions</vt:lpstr>
      <vt:lpstr>Terminologies With Function</vt:lpstr>
      <vt:lpstr>Illustration of Terminologies Associated With Functions</vt:lpstr>
      <vt:lpstr>Categories of Functions</vt:lpstr>
      <vt:lpstr>Illustration of Return Types &amp; Parameter Passing</vt:lpstr>
      <vt:lpstr>Return Value &amp; Parameter Values</vt:lpstr>
      <vt:lpstr>Categories of Functions</vt:lpstr>
      <vt:lpstr>Categories of Functions</vt:lpstr>
      <vt:lpstr>Function Calls / Parameter Passing</vt:lpstr>
      <vt:lpstr>Function Call – Call By Value / Parameter Passing By Value</vt:lpstr>
      <vt:lpstr>Function Call – Call By Value / Parameter Passing By Value : Example</vt:lpstr>
      <vt:lpstr>Function Calls – Call By Address / Parameter Passing By Address </vt:lpstr>
      <vt:lpstr>Function Call – Call By Address / Parameter Passing By Address : Example</vt:lpstr>
      <vt:lpstr>Function Calls – Call By Reference / Parameter Passing By Reference </vt:lpstr>
      <vt:lpstr>Function Call – Call By Address / Parameter Passing By Address : Example</vt:lpstr>
      <vt:lpstr>Function Calls – Call By Value Vs Call By Address</vt:lpstr>
      <vt:lpstr>EXAMPLE PROGRAM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C++ Programming (DAC-01)</dc:title>
  <dc:creator>Priyanka Sinha</dc:creator>
  <cp:lastModifiedBy>Priyanka Sinha</cp:lastModifiedBy>
  <cp:revision>5</cp:revision>
  <dcterms:created xsi:type="dcterms:W3CDTF">2025-05-22T10:43:38Z</dcterms:created>
  <dcterms:modified xsi:type="dcterms:W3CDTF">2025-11-20T04:21:13Z</dcterms:modified>
</cp:coreProperties>
</file>