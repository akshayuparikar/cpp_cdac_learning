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319" r:id="rId2"/>
    <p:sldId id="318" r:id="rId3"/>
    <p:sldId id="31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6" r:id="rId13"/>
    <p:sldId id="287" r:id="rId14"/>
    <p:sldId id="288" r:id="rId15"/>
    <p:sldId id="267" r:id="rId16"/>
    <p:sldId id="268" r:id="rId17"/>
    <p:sldId id="269" r:id="rId18"/>
    <p:sldId id="270" r:id="rId19"/>
    <p:sldId id="271" r:id="rId20"/>
    <p:sldId id="289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2" r:id="rId29"/>
    <p:sldId id="284" r:id="rId30"/>
    <p:sldId id="285" r:id="rId31"/>
    <p:sldId id="290" r:id="rId32"/>
    <p:sldId id="291" r:id="rId33"/>
    <p:sldId id="29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9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111" d="100"/>
          <a:sy n="111" d="100"/>
        </p:scale>
        <p:origin x="594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9E3336-A505-459E-8E03-DC2286A57B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9637A4-BF03-41BA-929A-34BAD09B93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72DE5C-7B03-4659-89AA-40A9BF92DB0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8E878-384C-4024-B5AD-5B363ACC29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2D2C9-19F7-4861-A339-4E98377C7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89C74B-7FCA-4BDB-B64E-964971893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7396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7FF29-2EE4-4F41-A5BA-854A50675B3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5EDDB-747F-4FD7-9E4F-29873C1859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8275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4C3A67-9F0B-42D2-9429-B440532AF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E7FE8F-6623-4C67-B4B2-F8E79ABFEB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DF7A65B-4F60-416C-BABE-DEE295E77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1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5413B-541C-46EC-B7C7-D7D2EFE08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9D169-BA10-4F97-8CF0-8C8038AA1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F33DDBA-62C7-4E06-81A3-8330C9B17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DB05-A086-4599-9718-2BE5A8501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D030A-373A-4D61-8E96-81AEEEE73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EC54B75-5929-46E5-81D4-9D38C76A4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51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E42B-FDDE-4FB6-81D1-803E075F8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EF01F-CFA9-4698-84FA-2196FC6810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DCB14-59C4-4FC4-B05F-E68D8A01F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3149D-D234-4152-9A3F-9607324E1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5645F36-4829-4E4D-B978-DB2EB081F561}"/>
              </a:ext>
            </a:extLst>
          </p:cNvPr>
          <p:cNvSpPr txBox="1">
            <a:spLocks/>
          </p:cNvSpPr>
          <p:nvPr userDrawn="1"/>
        </p:nvSpPr>
        <p:spPr>
          <a:xfrm>
            <a:off x="9289473" y="67287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50C061-FCD7-4E5E-A02A-3F2A15E03A9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002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6462-1D3E-48CC-AA9E-72319217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25E76-3DA7-44D3-91A9-270F1704E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C927A-49EC-4428-8707-F25779514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53779D-2B47-46E1-9133-4EEA6F06CC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4F048B-28DE-4BA8-8BE6-523A7A581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68E6367-51F3-4F84-BAE9-54D89385F1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407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8CEA3-0CAB-4622-A168-D5165DB87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F713C18-3C63-4F9B-B4D3-D64159F0F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50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AF25AE4-F0CF-4AAC-AAC1-E906C3917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84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CD92-EF4D-4E69-952F-BD510571D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0F646-3090-4B2F-BB27-D26490B37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D3FE6-B636-41C0-909E-8A178D4F1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CF003-8F43-4583-B02A-A2A8130D0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31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5309A-703A-4966-B9B6-28290269E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563B9-D48D-437C-9B01-69C9F8FA2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F2BD4-D7C5-4A57-AB55-71EE4B1F6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5A60E-6F2E-465F-86F1-B23B34014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840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2CED6-100C-4D69-8887-7E5202C3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EEADFA-F74C-4964-8024-7AB29728F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7C846D-89CD-4A77-BCCC-0FC4081A1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145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078C7F-C988-417B-BD0E-5BD9B53038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11752-9051-4514-819C-1C1329393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53B367-E15F-454E-B63E-48F7698AC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890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261068-615C-4652-9466-5E82A71D9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1072"/>
            <a:ext cx="10515600" cy="115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9C32A-A76D-4CC4-AF53-1609D9766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8E34F3C-BC6A-48EC-B4DC-C8A13F68DB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04026" y="42936"/>
            <a:ext cx="600889" cy="42700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AF5A7C-CAC5-4698-B700-63ECF741EC9B}"/>
              </a:ext>
            </a:extLst>
          </p:cNvPr>
          <p:cNvCxnSpPr>
            <a:cxnSpLocks/>
          </p:cNvCxnSpPr>
          <p:nvPr userDrawn="1"/>
        </p:nvCxnSpPr>
        <p:spPr>
          <a:xfrm>
            <a:off x="191007" y="281693"/>
            <a:ext cx="11335778" cy="0"/>
          </a:xfrm>
          <a:prstGeom prst="line">
            <a:avLst/>
          </a:prstGeom>
          <a:ln w="2857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7B5CFC-076B-4B96-A036-69C797C98B9D}"/>
              </a:ext>
            </a:extLst>
          </p:cNvPr>
          <p:cNvCxnSpPr>
            <a:cxnSpLocks/>
          </p:cNvCxnSpPr>
          <p:nvPr userDrawn="1"/>
        </p:nvCxnSpPr>
        <p:spPr>
          <a:xfrm>
            <a:off x="191007" y="6601560"/>
            <a:ext cx="11818113" cy="0"/>
          </a:xfrm>
          <a:prstGeom prst="line">
            <a:avLst/>
          </a:prstGeom>
          <a:ln w="2857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CD0074A-D602-4190-91FB-6A146F2CD90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1747865" y="5904408"/>
            <a:ext cx="1" cy="783772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C6BAF-0171-4CAF-B9A2-41EA866ED5B7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1804471" y="6204854"/>
            <a:ext cx="1" cy="483326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D9C4DEF-AE83-44BD-ACF7-FB217F67228F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78963" y="204198"/>
            <a:ext cx="1" cy="783772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3A3BC15-7E19-4093-A978-B720615129F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32161" y="204198"/>
            <a:ext cx="1" cy="483326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7F11D-79F1-4ECD-AED7-6C4C12C7F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CFA5F-A5A6-4E8D-868D-48E97050F192}"/>
              </a:ext>
            </a:extLst>
          </p:cNvPr>
          <p:cNvSpPr txBox="1"/>
          <p:nvPr userDrawn="1"/>
        </p:nvSpPr>
        <p:spPr>
          <a:xfrm>
            <a:off x="311727" y="6572100"/>
            <a:ext cx="1666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© C-DAC Bangalore</a:t>
            </a:r>
            <a:endParaRPr lang="en-IN" sz="14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4132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35EFC91-FA16-4584-9345-5DA4DE2D5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80910"/>
            <a:ext cx="9144000" cy="588078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Post Graduate Diploma in Advanced Computing (PG-DAC)</a:t>
            </a:r>
          </a:p>
          <a:p>
            <a:r>
              <a:rPr lang="en-IN" dirty="0"/>
              <a:t>ACTS, C-DAC Bangalore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B086A-2E5C-42A0-BA16-C4A70A56A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633CAF-AE04-4404-A053-CA6B82634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1071"/>
            <a:ext cx="10515600" cy="2637917"/>
          </a:xfrm>
        </p:spPr>
        <p:txBody>
          <a:bodyPr/>
          <a:lstStyle/>
          <a:p>
            <a:pPr algn="ctr"/>
            <a:r>
              <a:rPr lang="en-US" dirty="0"/>
              <a:t>C++ Programming</a:t>
            </a:r>
            <a:endParaRPr lang="en-IN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CB213A7-E6AF-4581-8DC3-DFCEBE3EC309}"/>
              </a:ext>
            </a:extLst>
          </p:cNvPr>
          <p:cNvSpPr txBox="1">
            <a:spLocks/>
          </p:cNvSpPr>
          <p:nvPr/>
        </p:nvSpPr>
        <p:spPr>
          <a:xfrm>
            <a:off x="735624" y="3990530"/>
            <a:ext cx="1532792" cy="2825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400" b="1" dirty="0"/>
              <a:t>Topics Covered:</a:t>
            </a:r>
            <a:endParaRPr lang="en-IN" b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FCF182E-8484-41BA-B88C-B70F4394ECE3}"/>
              </a:ext>
            </a:extLst>
          </p:cNvPr>
          <p:cNvSpPr txBox="1">
            <a:spLocks/>
          </p:cNvSpPr>
          <p:nvPr/>
        </p:nvSpPr>
        <p:spPr>
          <a:xfrm>
            <a:off x="735624" y="4448848"/>
            <a:ext cx="8760068" cy="1767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Data Types in C++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Arrays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000" dirty="0"/>
              <a:t>1D Array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000" dirty="0"/>
              <a:t>2D Array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Search &amp; Sort Operation in Array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Sparse Matrix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4202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0B308-B893-4202-B33F-D8F70AEB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 in C++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A35C5-19C0-467B-88BC-13C40876D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6F70A-03DC-4ADD-9D2B-8923959F8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707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1498B-E4F2-49DD-96CE-826769813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3</a:t>
            </a:fld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315910-1C86-40FF-BC8E-841BE22B1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760" y="585739"/>
            <a:ext cx="9590251" cy="564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36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EC824F4-DA54-3F2D-798C-DED5A85C2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DB68A34-3412-3F0B-F876-C7731F207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1-D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FE125-F4A6-4EAC-A2E5-6D4F5E53E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1333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A509C-3C0B-4E35-BCB7-CAA1DCC0F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C7A70-C55A-4821-9407-A1642599E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set of homogeneous data items</a:t>
            </a:r>
          </a:p>
          <a:p>
            <a:r>
              <a:rPr lang="en-IN" dirty="0"/>
              <a:t>stored as a common name</a:t>
            </a:r>
          </a:p>
          <a:p>
            <a:r>
              <a:rPr lang="en-IN" dirty="0"/>
              <a:t>contiguous block of memory gets allocated for the array</a:t>
            </a:r>
          </a:p>
          <a:p>
            <a:r>
              <a:rPr lang="en-IN" dirty="0"/>
              <a:t>array is a derived data type</a:t>
            </a:r>
          </a:p>
          <a:p>
            <a:r>
              <a:rPr lang="en-IN" dirty="0"/>
              <a:t>each of the element referenced by an index value</a:t>
            </a:r>
          </a:p>
          <a:p>
            <a:r>
              <a:rPr lang="en-IN" dirty="0"/>
              <a:t>the array indexing starts from 0 ; last element index is 1 less than the size of the array as the index value starts from 0</a:t>
            </a:r>
          </a:p>
        </p:txBody>
      </p:sp>
    </p:spTree>
    <p:extLst>
      <p:ext uri="{BB962C8B-B14F-4D97-AF65-F5344CB8AC3E}">
        <p14:creationId xmlns:p14="http://schemas.microsoft.com/office/powerpoint/2010/main" val="2193123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35D8A-DF08-47F1-8E08-5DADBF6D5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 For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837B7-C32D-4A53-B359-C23970859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List of Employees in Organization</a:t>
            </a:r>
          </a:p>
          <a:p>
            <a:r>
              <a:rPr lang="en-IN" dirty="0"/>
              <a:t>Test Scores of a class of students</a:t>
            </a:r>
          </a:p>
          <a:p>
            <a:r>
              <a:rPr lang="en-US" dirty="0"/>
              <a:t>List of temperatures recorded every hour in a day, or a month, or a year.</a:t>
            </a:r>
          </a:p>
          <a:p>
            <a:r>
              <a:rPr lang="en-US" dirty="0"/>
              <a:t>List of products and their cost sold by a store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473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5C491-D139-4E0D-9FCE-D4F38877B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024A0-616F-4AE9-B67D-FCB8C012F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Single Dimension Array</a:t>
            </a:r>
          </a:p>
          <a:p>
            <a:pPr lvl="1"/>
            <a:r>
              <a:rPr lang="en-US" dirty="0"/>
              <a:t>A list of item can be given one variable name using only one subscript and such a variable is called a single subscripted variable or One- dimensional array</a:t>
            </a:r>
          </a:p>
          <a:p>
            <a:pPr lvl="1"/>
            <a:r>
              <a:rPr lang="en-US" dirty="0"/>
              <a:t>Example: List</a:t>
            </a:r>
            <a:endParaRPr lang="en-IN" dirty="0"/>
          </a:p>
          <a:p>
            <a:r>
              <a:rPr lang="en-IN" dirty="0"/>
              <a:t>Two Dimensional Array</a:t>
            </a:r>
          </a:p>
          <a:p>
            <a:pPr lvl="1"/>
            <a:r>
              <a:rPr lang="en-US" dirty="0"/>
              <a:t>Data stored in the form of table is categorized as 2D Array.</a:t>
            </a:r>
          </a:p>
          <a:p>
            <a:pPr lvl="1"/>
            <a:r>
              <a:rPr lang="en-US" dirty="0"/>
              <a:t>Example: Matrix</a:t>
            </a:r>
            <a:endParaRPr lang="en-IN" dirty="0"/>
          </a:p>
          <a:p>
            <a:r>
              <a:rPr lang="en-IN" dirty="0"/>
              <a:t>Multi Dimensional Array</a:t>
            </a:r>
          </a:p>
          <a:p>
            <a:pPr lvl="1"/>
            <a:r>
              <a:rPr lang="en-IN" dirty="0"/>
              <a:t>More than 2 dimensions.</a:t>
            </a:r>
          </a:p>
          <a:p>
            <a:pPr lvl="1"/>
            <a:r>
              <a:rPr lang="en-IN" dirty="0"/>
              <a:t>Example: JSON objects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2517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AF579-F408-4698-8B1E-F5F47337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Single Dimensional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8799E-1658-4D46-A849-EBA163AE3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List form of data structure</a:t>
            </a:r>
          </a:p>
          <a:p>
            <a:r>
              <a:rPr lang="en-IN" dirty="0"/>
              <a:t>consists of single dimension</a:t>
            </a:r>
          </a:p>
          <a:p>
            <a:r>
              <a:rPr lang="en-IN" dirty="0"/>
              <a:t>Consider the example of marks scored by student in 6 subjects. This can be represented in array as : float marks[6] where 6 is the size of array marks is name of array and will store float type values.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3978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2E5F4-1703-4E33-AD91-480084BC9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Declaration : 1D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1B80D-FB08-4AC9-A7B7-5D2619E54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Syntax:</a:t>
            </a:r>
          </a:p>
          <a:p>
            <a:pPr marL="0" indent="0">
              <a:buNone/>
            </a:pPr>
            <a:r>
              <a:rPr lang="en-IN" dirty="0"/>
              <a:t>	datatype array-name[size].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	int </a:t>
            </a:r>
            <a:r>
              <a:rPr lang="en-IN" dirty="0" err="1"/>
              <a:t>arr</a:t>
            </a:r>
            <a:r>
              <a:rPr lang="en-IN" dirty="0"/>
              <a:t>[5];</a:t>
            </a:r>
          </a:p>
          <a:p>
            <a:r>
              <a:rPr lang="en-IN" dirty="0"/>
              <a:t>Declaration can be optionally done along with the initialization as:</a:t>
            </a:r>
          </a:p>
          <a:p>
            <a:pPr marL="457200" lvl="1" indent="0">
              <a:buNone/>
            </a:pPr>
            <a:r>
              <a:rPr lang="en-IN" dirty="0"/>
              <a:t>	int </a:t>
            </a:r>
            <a:r>
              <a:rPr lang="en-IN" dirty="0" err="1"/>
              <a:t>arr</a:t>
            </a:r>
            <a:r>
              <a:rPr lang="en-IN" dirty="0"/>
              <a:t>[5] = {1,2,3,4,5}</a:t>
            </a:r>
          </a:p>
          <a:p>
            <a:r>
              <a:rPr lang="en-IN" dirty="0"/>
              <a:t>Declaration statement provides the type of value it stores, the number of values that can be stored and the size of memory to be allocated for array.</a:t>
            </a:r>
          </a:p>
        </p:txBody>
      </p:sp>
    </p:spTree>
    <p:extLst>
      <p:ext uri="{BB962C8B-B14F-4D97-AF65-F5344CB8AC3E}">
        <p14:creationId xmlns:p14="http://schemas.microsoft.com/office/powerpoint/2010/main" val="2081109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24F36-B49B-4035-8BEE-4545C12E3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Storage  &amp; Access of Array : 1D Array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03622-4264-4494-B930-4D7A496AC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600" cy="2956243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Consider array:</a:t>
            </a:r>
          </a:p>
          <a:p>
            <a:pPr marL="0" indent="0">
              <a:buNone/>
            </a:pPr>
            <a:r>
              <a:rPr lang="en-IN" dirty="0"/>
              <a:t>	int </a:t>
            </a:r>
            <a:r>
              <a:rPr lang="en-IN" dirty="0" err="1"/>
              <a:t>arr</a:t>
            </a:r>
            <a:r>
              <a:rPr lang="en-IN" dirty="0"/>
              <a:t>[5];</a:t>
            </a:r>
          </a:p>
          <a:p>
            <a:r>
              <a:rPr lang="en-IN" dirty="0"/>
              <a:t>Since int type, 2B for each element; total 5 elements then total memory allocated is 5*2 = 10B</a:t>
            </a:r>
          </a:p>
          <a:p>
            <a:r>
              <a:rPr lang="en-IN" dirty="0"/>
              <a:t>Each elements is referenced with its index value as </a:t>
            </a:r>
            <a:r>
              <a:rPr lang="en-IN" dirty="0" err="1"/>
              <a:t>arr</a:t>
            </a:r>
            <a:r>
              <a:rPr lang="en-IN" dirty="0"/>
              <a:t>[0], </a:t>
            </a:r>
            <a:r>
              <a:rPr lang="en-IN" dirty="0" err="1"/>
              <a:t>arr</a:t>
            </a:r>
            <a:r>
              <a:rPr lang="en-IN" dirty="0"/>
              <a:t>[1], </a:t>
            </a:r>
            <a:r>
              <a:rPr lang="en-IN" dirty="0" err="1"/>
              <a:t>arr</a:t>
            </a:r>
            <a:r>
              <a:rPr lang="en-IN" dirty="0"/>
              <a:t>[2], </a:t>
            </a:r>
            <a:r>
              <a:rPr lang="en-IN" dirty="0" err="1"/>
              <a:t>arr</a:t>
            </a:r>
            <a:r>
              <a:rPr lang="en-IN" dirty="0"/>
              <a:t>[3], </a:t>
            </a:r>
            <a:r>
              <a:rPr lang="en-IN" dirty="0" err="1"/>
              <a:t>arr</a:t>
            </a:r>
            <a:r>
              <a:rPr lang="en-IN" dirty="0"/>
              <a:t>[4]</a:t>
            </a:r>
          </a:p>
          <a:p>
            <a:r>
              <a:rPr lang="en-IN" dirty="0"/>
              <a:t>Elements are stored in contiguous block assuming from address 2000 to 2009</a:t>
            </a:r>
          </a:p>
          <a:p>
            <a:r>
              <a:rPr lang="en-IN" dirty="0"/>
              <a:t>Each element of array has a default garbage value stored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3E09BA-7235-5924-4F68-1321A90CE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489" y="4967119"/>
            <a:ext cx="9554908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803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3405B6-9292-4AD8-A444-80487DC38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927" y="1163782"/>
            <a:ext cx="8866909" cy="5153891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At Compile Time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IN" dirty="0"/>
              <a:t>Complete array initialization. </a:t>
            </a:r>
          </a:p>
          <a:p>
            <a:pPr lvl="2"/>
            <a:r>
              <a:rPr lang="en-US" b="1" dirty="0"/>
              <a:t>all the locations </a:t>
            </a:r>
            <a:r>
              <a:rPr lang="en-US" dirty="0"/>
              <a:t>of an array is assigned with some value during declaration. </a:t>
            </a:r>
          </a:p>
          <a:p>
            <a:pPr lvl="2"/>
            <a:r>
              <a:rPr lang="en-US" dirty="0"/>
              <a:t>Example: </a:t>
            </a:r>
            <a:r>
              <a:rPr lang="en-IN" dirty="0"/>
              <a:t>int </a:t>
            </a:r>
            <a:r>
              <a:rPr lang="en-IN" dirty="0" err="1"/>
              <a:t>arr</a:t>
            </a:r>
            <a:r>
              <a:rPr lang="en-IN" dirty="0"/>
              <a:t>[5]={10,15,1,3,20};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IN" dirty="0"/>
              <a:t>Partial array initialization. </a:t>
            </a:r>
          </a:p>
          <a:p>
            <a:pPr lvl="2"/>
            <a:r>
              <a:rPr lang="en-US" b="1" dirty="0"/>
              <a:t>few locations </a:t>
            </a:r>
            <a:r>
              <a:rPr lang="en-US" dirty="0"/>
              <a:t>from starting location of an array is assigned with some value during declaration. </a:t>
            </a:r>
          </a:p>
          <a:p>
            <a:pPr lvl="2"/>
            <a:r>
              <a:rPr lang="en-IN" dirty="0"/>
              <a:t>Example: int a[5]={10,15}; 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IN" dirty="0"/>
              <a:t>Initialization without size. </a:t>
            </a:r>
          </a:p>
          <a:p>
            <a:pPr lvl="2"/>
            <a:r>
              <a:rPr lang="en-US" dirty="0"/>
              <a:t>size is not specified during the declaration but the values are specified. </a:t>
            </a:r>
          </a:p>
          <a:p>
            <a:pPr lvl="2"/>
            <a:r>
              <a:rPr lang="en-IN" dirty="0"/>
              <a:t>Based on value array size is allocated</a:t>
            </a:r>
          </a:p>
          <a:p>
            <a:pPr lvl="2"/>
            <a:r>
              <a:rPr lang="en-IN" dirty="0"/>
              <a:t>Example: int </a:t>
            </a:r>
            <a:r>
              <a:rPr lang="en-IN" dirty="0" err="1"/>
              <a:t>arr</a:t>
            </a:r>
            <a:r>
              <a:rPr lang="en-IN" dirty="0"/>
              <a:t> [ ]={10, 15, 1, 3, 20}; 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IN" dirty="0"/>
              <a:t>String initialization. </a:t>
            </a:r>
          </a:p>
          <a:p>
            <a:pPr lvl="2"/>
            <a:r>
              <a:rPr lang="en-US" dirty="0"/>
              <a:t>string is initialized to the array and the data type will be character only. </a:t>
            </a:r>
          </a:p>
          <a:p>
            <a:pPr lvl="2"/>
            <a:r>
              <a:rPr lang="en-IN" dirty="0"/>
              <a:t>Example: char str[ 6 ]="GRAPH"; </a:t>
            </a:r>
          </a:p>
          <a:p>
            <a:r>
              <a:rPr lang="en-IN" dirty="0"/>
              <a:t>At Run Time</a:t>
            </a:r>
          </a:p>
          <a:p>
            <a:pPr lvl="1"/>
            <a:r>
              <a:rPr lang="en-IN" dirty="0"/>
              <a:t>Using Loops, of assignment statement for each index, values at run time be initialized as user input.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F758A6-680D-45C7-88C0-3F361FD8A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756"/>
            <a:ext cx="10661073" cy="1325563"/>
          </a:xfrm>
        </p:spPr>
        <p:txBody>
          <a:bodyPr/>
          <a:lstStyle/>
          <a:p>
            <a:r>
              <a:rPr lang="en-IN" dirty="0"/>
              <a:t>Initialization (Storing Values) of Array: 1D Array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218941-C178-48C6-8CFC-469C142CB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3889" y="1571168"/>
            <a:ext cx="2182273" cy="7032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224DE5-A5BD-4D70-9D91-22AF1D763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3889" y="2518208"/>
            <a:ext cx="2244584" cy="7139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602943-A234-4D80-AE80-64C31C526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889" y="4641068"/>
            <a:ext cx="2462303" cy="6457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00A2F9-C091-4D33-B205-550A515E0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3889" y="3607481"/>
            <a:ext cx="2182273" cy="70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699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E12C6-0FFE-4409-AAED-8A7296360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Operations With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EE98B-DEE5-4B13-A81D-E0919C67B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Read &amp; Display the array</a:t>
            </a:r>
          </a:p>
          <a:p>
            <a:r>
              <a:rPr lang="en-IN" dirty="0"/>
              <a:t>Inserting element to array</a:t>
            </a:r>
          </a:p>
          <a:p>
            <a:r>
              <a:rPr lang="en-IN" dirty="0"/>
              <a:t>Deleting element from array</a:t>
            </a:r>
          </a:p>
          <a:p>
            <a:r>
              <a:rPr lang="en-IN" dirty="0"/>
              <a:t>Searching element in array</a:t>
            </a:r>
          </a:p>
          <a:p>
            <a:r>
              <a:rPr lang="en-IN" dirty="0"/>
              <a:t>Sorting array</a:t>
            </a:r>
          </a:p>
        </p:txBody>
      </p:sp>
    </p:spTree>
    <p:extLst>
      <p:ext uri="{BB962C8B-B14F-4D97-AF65-F5344CB8AC3E}">
        <p14:creationId xmlns:p14="http://schemas.microsoft.com/office/powerpoint/2010/main" val="2184895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FC189-67AC-4408-9DF8-8F4E875B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Read &amp; Display Array : 1D Array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416948-AFEA-407B-BEA7-ABA96DD09435}"/>
              </a:ext>
            </a:extLst>
          </p:cNvPr>
          <p:cNvSpPr/>
          <p:nvPr/>
        </p:nvSpPr>
        <p:spPr>
          <a:xfrm>
            <a:off x="838200" y="1443841"/>
            <a:ext cx="719050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>
                <a:solidFill>
                  <a:srgbClr val="6F008A"/>
                </a:solidFill>
                <a:latin typeface="Consolas" panose="020B0609020204030204" pitchFamily="49" charset="0"/>
              </a:rPr>
              <a:t>MAX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], n,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"Enter the size of the array 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&gt;&gt;n;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nReading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the elements to an array :"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n; i++)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IN" dirty="0" err="1">
                <a:solidFill>
                  <a:srgbClr val="A31515"/>
                </a:solidFill>
                <a:latin typeface="Consolas" panose="020B0609020204030204" pitchFamily="49" charset="0"/>
              </a:rPr>
              <a:t>narr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[%d] = 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&gt;&gt;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"Displaying the %d elements of the array"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n;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n; i++)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911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D3E9E-5ACA-4445-9AC3-548DB9EF8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Inserting Element in Array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F2D9FA-4632-45F9-BAEB-1B8070C47F93}"/>
              </a:ext>
            </a:extLst>
          </p:cNvPr>
          <p:cNvSpPr/>
          <p:nvPr/>
        </p:nvSpPr>
        <p:spPr>
          <a:xfrm>
            <a:off x="6954981" y="1817867"/>
            <a:ext cx="523701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>
                <a:solidFill>
                  <a:srgbClr val="6F008A"/>
                </a:solidFill>
                <a:latin typeface="Consolas" panose="020B0609020204030204" pitchFamily="49" charset="0"/>
              </a:rPr>
              <a:t>MAX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], n,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item,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IN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&gt;= n)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nPosition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entered is not valid! Inserting at end of array!"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 n-1;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 = n - 1; i &gt;= pos; i--)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+ 1] =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n++;</a:t>
            </a:r>
          </a:p>
          <a:p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 = item;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E86192-1611-415B-AB39-216CE306E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39906"/>
            <a:ext cx="5435062" cy="274292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6B59AD-B6D3-40A1-A9B1-13170414E950}"/>
              </a:ext>
            </a:extLst>
          </p:cNvPr>
          <p:cNvCxnSpPr>
            <a:cxnSpLocks/>
          </p:cNvCxnSpPr>
          <p:nvPr/>
        </p:nvCxnSpPr>
        <p:spPr>
          <a:xfrm>
            <a:off x="6685392" y="1690688"/>
            <a:ext cx="0" cy="4557247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986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8ED02-5426-432A-8F0E-6CD9F3CD2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Deleting Element From Array : 1D Array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E77D8A-38F5-4253-A418-7B5967DEE825}"/>
              </a:ext>
            </a:extLst>
          </p:cNvPr>
          <p:cNvSpPr/>
          <p:nvPr/>
        </p:nvSpPr>
        <p:spPr>
          <a:xfrm>
            <a:off x="6564212" y="1582340"/>
            <a:ext cx="562778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>
                <a:solidFill>
                  <a:srgbClr val="6F008A"/>
                </a:solidFill>
                <a:latin typeface="Consolas" panose="020B0609020204030204" pitchFamily="49" charset="0"/>
              </a:rPr>
              <a:t>MAX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], n,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item,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&gt;= n)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nPosition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entered is not valid! Deleting from end of array!"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 n - 1;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item =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 = pos; i &lt; n; i++)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[i+1];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n--;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830190-3817-4D0D-B975-44AAFD308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2340"/>
            <a:ext cx="4789589" cy="397031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D0333D-94B6-4BC6-8531-F51573E2DFFE}"/>
              </a:ext>
            </a:extLst>
          </p:cNvPr>
          <p:cNvCxnSpPr>
            <a:cxnSpLocks/>
          </p:cNvCxnSpPr>
          <p:nvPr/>
        </p:nvCxnSpPr>
        <p:spPr>
          <a:xfrm>
            <a:off x="6255901" y="1600633"/>
            <a:ext cx="0" cy="4557247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857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18C4B-C1A6-4505-B660-B1B6E6789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Searching Element in 1D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99920-34E3-46EA-AD45-8504BB0B0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Linear Search</a:t>
            </a:r>
          </a:p>
          <a:p>
            <a:pPr lvl="1"/>
            <a:r>
              <a:rPr lang="en-IN" dirty="0"/>
              <a:t>Start from beginning, search by comparing elements one by one</a:t>
            </a:r>
          </a:p>
          <a:p>
            <a:pPr lvl="1"/>
            <a:endParaRPr lang="en-IN" dirty="0"/>
          </a:p>
          <a:p>
            <a:r>
              <a:rPr lang="en-IN" dirty="0"/>
              <a:t>Binary Search</a:t>
            </a:r>
          </a:p>
          <a:p>
            <a:pPr lvl="1"/>
            <a:r>
              <a:rPr lang="en-IN" dirty="0"/>
              <a:t>Find the middle value and keep comparing till either element is found or list exhausted</a:t>
            </a:r>
          </a:p>
          <a:p>
            <a:pPr lvl="1"/>
            <a:r>
              <a:rPr lang="en-IN" dirty="0"/>
              <a:t>List should be sorted for the binary search to be performed</a:t>
            </a:r>
          </a:p>
        </p:txBody>
      </p:sp>
    </p:spTree>
    <p:extLst>
      <p:ext uri="{BB962C8B-B14F-4D97-AF65-F5344CB8AC3E}">
        <p14:creationId xmlns:p14="http://schemas.microsoft.com/office/powerpoint/2010/main" val="1613805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38832-6580-4F76-83A8-1A436E2F3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720"/>
            <a:ext cx="10515600" cy="1325563"/>
          </a:xfrm>
        </p:spPr>
        <p:txBody>
          <a:bodyPr/>
          <a:lstStyle/>
          <a:p>
            <a:r>
              <a:rPr lang="en-IN" dirty="0"/>
              <a:t>Linear Search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B747D3-021E-455E-813A-BB3D35EAC4A9}"/>
              </a:ext>
            </a:extLst>
          </p:cNvPr>
          <p:cNvSpPr/>
          <p:nvPr/>
        </p:nvSpPr>
        <p:spPr>
          <a:xfrm>
            <a:off x="6548437" y="1004088"/>
            <a:ext cx="566521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arr[</a:t>
            </a:r>
            <a:r>
              <a:rPr lang="pt-BR" dirty="0">
                <a:solidFill>
                  <a:srgbClr val="6F008A"/>
                </a:solidFill>
                <a:latin typeface="Consolas" panose="020B0609020204030204" pitchFamily="49" charset="0"/>
              </a:rPr>
              <a:t>MAX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], n, i, item, pos, isfound = 0;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n; i++)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 == item)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isfound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pPr lvl="2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isfound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== 1)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nElement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found"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nElement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not found"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pic>
        <p:nvPicPr>
          <p:cNvPr id="3074" name="Picture 2" descr="Linear search algorithm – Programming Articles">
            <a:extLst>
              <a:ext uri="{FF2B5EF4-FFF2-40B4-BE49-F238E27FC236}">
                <a16:creationId xmlns:a16="http://schemas.microsoft.com/office/drawing/2014/main" id="{E47DF79B-211F-423E-BE45-8D67E2AD2E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9" r="12695"/>
          <a:stretch/>
        </p:blipFill>
        <p:spPr bwMode="auto">
          <a:xfrm>
            <a:off x="238124" y="1109262"/>
            <a:ext cx="5260011" cy="5250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4B3AF0-2B69-4A57-8393-07FD7956B4F2}"/>
              </a:ext>
            </a:extLst>
          </p:cNvPr>
          <p:cNvCxnSpPr/>
          <p:nvPr/>
        </p:nvCxnSpPr>
        <p:spPr>
          <a:xfrm>
            <a:off x="6214338" y="1109262"/>
            <a:ext cx="0" cy="5264727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468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2A21-BBF7-40F2-8A79-8ECEB80F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58"/>
            <a:ext cx="10515600" cy="729387"/>
          </a:xfrm>
        </p:spPr>
        <p:txBody>
          <a:bodyPr/>
          <a:lstStyle/>
          <a:p>
            <a:r>
              <a:rPr lang="en-IN" dirty="0"/>
              <a:t>Binary Search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E8DC57-6E41-4081-9C01-1C02770B14DD}"/>
              </a:ext>
            </a:extLst>
          </p:cNvPr>
          <p:cNvSpPr/>
          <p:nvPr/>
        </p:nvSpPr>
        <p:spPr>
          <a:xfrm>
            <a:off x="7721095" y="394692"/>
            <a:ext cx="4470905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arr[</a:t>
            </a:r>
            <a:r>
              <a:rPr lang="pt-BR" dirty="0">
                <a:solidFill>
                  <a:srgbClr val="6F008A"/>
                </a:solidFill>
                <a:latin typeface="Consolas" panose="020B0609020204030204" pitchFamily="49" charset="0"/>
              </a:rPr>
              <a:t>MAX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], n, i, item; </a:t>
            </a:r>
          </a:p>
          <a:p>
            <a:r>
              <a:rPr lang="pt-BR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pos, isfound = 0;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low, high, mid;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low = 0;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high = n - 1;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mid = (low + high) / 2;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(item ==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[mid])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isfound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 1;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pos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 mid;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	break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(item 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[mid])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	high = mid - 1;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	low = mid + 1;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(low &lt;= high);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isfound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== 1)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nElement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found"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nElement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not found"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IN" dirty="0"/>
          </a:p>
        </p:txBody>
      </p:sp>
      <p:pic>
        <p:nvPicPr>
          <p:cNvPr id="4098" name="Picture 2" descr="Binary Search Algorithm with C++ Code | Data Structures ...">
            <a:extLst>
              <a:ext uri="{FF2B5EF4-FFF2-40B4-BE49-F238E27FC236}">
                <a16:creationId xmlns:a16="http://schemas.microsoft.com/office/drawing/2014/main" id="{24F8CE3C-35AA-4727-A7A4-EA662A11A3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3" t="16250" r="10286" b="9795"/>
          <a:stretch/>
        </p:blipFill>
        <p:spPr bwMode="auto">
          <a:xfrm>
            <a:off x="9741" y="1237383"/>
            <a:ext cx="7398331" cy="3916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24D822-FCC0-46C0-8073-4DD62862E0CD}"/>
              </a:ext>
            </a:extLst>
          </p:cNvPr>
          <p:cNvCxnSpPr>
            <a:cxnSpLocks/>
          </p:cNvCxnSpPr>
          <p:nvPr/>
        </p:nvCxnSpPr>
        <p:spPr>
          <a:xfrm>
            <a:off x="7700888" y="394692"/>
            <a:ext cx="20207" cy="6186217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056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00CD-AC57-493C-811F-8C83B574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Bubble Sort : 1D Array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91DD7E-AD76-4C0E-9A76-44BA8EDE42E7}"/>
              </a:ext>
            </a:extLst>
          </p:cNvPr>
          <p:cNvSpPr/>
          <p:nvPr/>
        </p:nvSpPr>
        <p:spPr>
          <a:xfrm>
            <a:off x="7337663" y="1361267"/>
            <a:ext cx="588818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 arr[</a:t>
            </a:r>
            <a:r>
              <a:rPr lang="sv-SE" dirty="0">
                <a:solidFill>
                  <a:srgbClr val="6F008A"/>
                </a:solidFill>
                <a:latin typeface="Consolas" panose="020B0609020204030204" pitchFamily="49" charset="0"/>
              </a:rPr>
              <a:t>MAX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], n, i, j, temp;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IN" dirty="0" err="1">
                <a:solidFill>
                  <a:srgbClr val="A31515"/>
                </a:solidFill>
                <a:latin typeface="Consolas" panose="020B0609020204030204" pitchFamily="49" charset="0"/>
              </a:rPr>
              <a:t>nPerforming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 Bubble Sort"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nn-NO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n - 1; i++)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(j = 0; j &lt; n -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- 1;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[j] &gt;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[j + 1])</a:t>
            </a:r>
          </a:p>
          <a:p>
            <a:pPr lvl="2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3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temp =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[j];</a:t>
            </a:r>
          </a:p>
          <a:p>
            <a:pPr lvl="3"/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arr[j] = arr[j + 1];</a:t>
            </a:r>
          </a:p>
          <a:p>
            <a:pPr lvl="3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[j + 1] = temp;</a:t>
            </a:r>
          </a:p>
          <a:p>
            <a:pPr lvl="2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1EF5AD-091A-47B7-A4FD-2563BA09A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1203"/>
            <a:ext cx="7089768" cy="289207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2D5487-FDFB-4532-97E3-D460E0EF7D4C}"/>
              </a:ext>
            </a:extLst>
          </p:cNvPr>
          <p:cNvCxnSpPr/>
          <p:nvPr/>
        </p:nvCxnSpPr>
        <p:spPr>
          <a:xfrm>
            <a:off x="7214463" y="942110"/>
            <a:ext cx="0" cy="5264727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647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B4E18-D5D9-4167-9FCE-4D3CAF27D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A10AD7-7D40-1137-691E-B1135B2D0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9CB39C-880B-55A7-6164-1C5146FF3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2-D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7188C-4035-78E6-8595-C903A6E52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016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0C101-064A-4D98-877F-867BE240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 Dimensional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9BA23-6188-4DA4-8ACD-DAC929D96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tabular representation of data in terms of two dimensions namely rows and columns</a:t>
            </a:r>
          </a:p>
          <a:p>
            <a:r>
              <a:rPr lang="en-IN" dirty="0"/>
              <a:t>Each element of the array is accessed by two index values namely rows and columns</a:t>
            </a:r>
          </a:p>
          <a:p>
            <a:r>
              <a:rPr lang="en-IN" dirty="0"/>
              <a:t>Memory allotted for 2D array is a collection of contiguous block of memory of size governed by type and rows and columns in 2D Array</a:t>
            </a:r>
          </a:p>
          <a:p>
            <a:r>
              <a:rPr lang="en-IN" dirty="0"/>
              <a:t>Some examples are working with matrix based operations.</a:t>
            </a:r>
          </a:p>
          <a:p>
            <a:r>
              <a:rPr lang="en-IN" dirty="0" err="1"/>
              <a:t>Eg</a:t>
            </a:r>
            <a:r>
              <a:rPr lang="en-IN" dirty="0"/>
              <a:t>: Marks in 5 subjects for a set of 50 students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9799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3643-E009-49C1-8AB7-D02988BF5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2D Array :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57021-40F9-4436-91C7-B53BAC5C2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Syntax:</a:t>
            </a:r>
          </a:p>
          <a:p>
            <a:pPr marL="457200" lvl="1" indent="0">
              <a:buNone/>
            </a:pPr>
            <a:r>
              <a:rPr lang="en-IN" dirty="0"/>
              <a:t>&lt;datatype&gt; &lt;array-name&gt;[&lt;row-count&gt;][&lt;column-count&gt;];</a:t>
            </a:r>
          </a:p>
          <a:p>
            <a:pPr marL="457200" lvl="1" indent="0">
              <a:buNone/>
            </a:pPr>
            <a:r>
              <a:rPr lang="en-IN" dirty="0"/>
              <a:t>	</a:t>
            </a:r>
          </a:p>
          <a:p>
            <a:r>
              <a:rPr lang="en-IN" dirty="0"/>
              <a:t>Size of Memory Block:</a:t>
            </a:r>
          </a:p>
          <a:p>
            <a:pPr marL="457200" lvl="1" indent="0">
              <a:buNone/>
            </a:pPr>
            <a:r>
              <a:rPr lang="en-IN" dirty="0"/>
              <a:t>size = </a:t>
            </a:r>
            <a:r>
              <a:rPr lang="en-IN" dirty="0" err="1"/>
              <a:t>sizeof</a:t>
            </a:r>
            <a:r>
              <a:rPr lang="en-IN" dirty="0"/>
              <a:t>(datatype) * row-count * column-count; 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dirty="0"/>
              <a:t>Example:</a:t>
            </a:r>
          </a:p>
          <a:p>
            <a:pPr marL="457200" lvl="1" indent="0">
              <a:buNone/>
            </a:pPr>
            <a:r>
              <a:rPr lang="en-IN" dirty="0"/>
              <a:t>int matrix[2][3];</a:t>
            </a:r>
          </a:p>
          <a:p>
            <a:pPr marL="457200" lvl="1" indent="0">
              <a:buNone/>
            </a:pPr>
            <a:r>
              <a:rPr lang="en-IN" dirty="0"/>
              <a:t>This consists of 2 rows and 3 columns for elements referred by matrix &amp; stores element of type int. Size of memory allotted : 2 * 3 * 2 = 12Bytes</a:t>
            </a:r>
          </a:p>
        </p:txBody>
      </p:sp>
    </p:spTree>
    <p:extLst>
      <p:ext uri="{BB962C8B-B14F-4D97-AF65-F5344CB8AC3E}">
        <p14:creationId xmlns:p14="http://schemas.microsoft.com/office/powerpoint/2010/main" val="33201477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EB0B2-5111-4DB5-9A39-26C90AEA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2D Array Representation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27A14C-94B7-4707-BED5-15C503B919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Each of the array element is represented by the array name followed by the index value for row and index value of column.</a:t>
            </a:r>
          </a:p>
          <a:p>
            <a:r>
              <a:rPr lang="en-IN" dirty="0"/>
              <a:t>Woking with 2D array involves scrolling across every column for each of the row.</a:t>
            </a:r>
          </a:p>
          <a:p>
            <a:r>
              <a:rPr lang="en-IN" dirty="0"/>
              <a:t>Storage of array in memory can be in Row major or column major form</a:t>
            </a:r>
          </a:p>
        </p:txBody>
      </p:sp>
      <p:pic>
        <p:nvPicPr>
          <p:cNvPr id="1026" name="Picture 2" descr="Two Dimensional Array in C++ - JournalDev">
            <a:extLst>
              <a:ext uri="{FF2B5EF4-FFF2-40B4-BE49-F238E27FC236}">
                <a16:creationId xmlns:a16="http://schemas.microsoft.com/office/drawing/2014/main" id="{BFBD6EA7-BA61-4729-A1FF-DE14690575D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558" y="2167657"/>
            <a:ext cx="5544881" cy="3487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029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45BB7-0AC4-4446-AF7C-2A91617C0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2D Array Storage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507186-C0F6-409A-972A-645BDC900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Row Major Representation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66E23D-1EE1-4025-A4AD-019280B1D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Column Major Representation</a:t>
            </a:r>
          </a:p>
        </p:txBody>
      </p:sp>
      <p:pic>
        <p:nvPicPr>
          <p:cNvPr id="2054" name="Picture 6" descr="Row major 2D">
            <a:extLst>
              <a:ext uri="{FF2B5EF4-FFF2-40B4-BE49-F238E27FC236}">
                <a16:creationId xmlns:a16="http://schemas.microsoft.com/office/drawing/2014/main" id="{0035DD73-5D87-49F7-9551-8CB55DB062E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3" r="21737"/>
          <a:stretch/>
        </p:blipFill>
        <p:spPr bwMode="auto">
          <a:xfrm>
            <a:off x="484909" y="2505075"/>
            <a:ext cx="4376049" cy="2671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olumn major 2D">
            <a:extLst>
              <a:ext uri="{FF2B5EF4-FFF2-40B4-BE49-F238E27FC236}">
                <a16:creationId xmlns:a16="http://schemas.microsoft.com/office/drawing/2014/main" id="{1D3108A4-4D33-42E8-8063-2BF65CCDB34C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58" r="21815"/>
          <a:stretch/>
        </p:blipFill>
        <p:spPr bwMode="auto">
          <a:xfrm>
            <a:off x="6527480" y="2505075"/>
            <a:ext cx="4029683" cy="2582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Array. - ppt download">
            <a:extLst>
              <a:ext uri="{FF2B5EF4-FFF2-40B4-BE49-F238E27FC236}">
                <a16:creationId xmlns:a16="http://schemas.microsoft.com/office/drawing/2014/main" id="{B871A977-A867-49E9-8BDC-1A951D716A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4" t="87986" r="47879" b="3636"/>
          <a:stretch/>
        </p:blipFill>
        <p:spPr bwMode="auto">
          <a:xfrm>
            <a:off x="484909" y="5176837"/>
            <a:ext cx="4376049" cy="57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Array. - ppt download">
            <a:extLst>
              <a:ext uri="{FF2B5EF4-FFF2-40B4-BE49-F238E27FC236}">
                <a16:creationId xmlns:a16="http://schemas.microsoft.com/office/drawing/2014/main" id="{1682A3A0-152C-4FC4-AE3C-33D5A5B9A7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5" t="62349" r="46948" b="30505"/>
          <a:stretch/>
        </p:blipFill>
        <p:spPr bwMode="auto">
          <a:xfrm>
            <a:off x="6527480" y="5219065"/>
            <a:ext cx="4376049" cy="49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0CF590-A02B-420B-A346-83CF9D784A36}"/>
              </a:ext>
            </a:extLst>
          </p:cNvPr>
          <p:cNvSpPr txBox="1"/>
          <p:nvPr/>
        </p:nvSpPr>
        <p:spPr>
          <a:xfrm>
            <a:off x="484909" y="5901574"/>
            <a:ext cx="10593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base(a):</a:t>
            </a:r>
            <a:r>
              <a:rPr lang="en-IN" dirty="0"/>
              <a:t> base address in pointer a ; </a:t>
            </a:r>
            <a:r>
              <a:rPr lang="en-IN" b="1" dirty="0"/>
              <a:t>w:</a:t>
            </a:r>
            <a:r>
              <a:rPr lang="en-IN" dirty="0"/>
              <a:t> size of each element ; </a:t>
            </a:r>
            <a:r>
              <a:rPr lang="en-IN" b="1" dirty="0"/>
              <a:t>m:</a:t>
            </a:r>
            <a:r>
              <a:rPr lang="en-IN" dirty="0"/>
              <a:t> total rows in array a ; </a:t>
            </a:r>
            <a:r>
              <a:rPr lang="en-IN" b="1" dirty="0"/>
              <a:t>n:</a:t>
            </a:r>
            <a:r>
              <a:rPr lang="en-IN" dirty="0"/>
              <a:t> total columns in array a</a:t>
            </a:r>
          </a:p>
        </p:txBody>
      </p:sp>
    </p:spTree>
    <p:extLst>
      <p:ext uri="{BB962C8B-B14F-4D97-AF65-F5344CB8AC3E}">
        <p14:creationId xmlns:p14="http://schemas.microsoft.com/office/powerpoint/2010/main" val="1928106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EE4B8B-6C01-4EC6-8A94-2D9607390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2D Array: Initialization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9E758D-6414-484A-A0F0-0DF11F135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At Compile Time</a:t>
            </a:r>
          </a:p>
          <a:p>
            <a:pPr lvl="1"/>
            <a:r>
              <a:rPr lang="en-IN" dirty="0"/>
              <a:t>Complete Array Initialization</a:t>
            </a:r>
          </a:p>
          <a:p>
            <a:pPr marL="457200" lvl="1" indent="0">
              <a:buNone/>
            </a:pPr>
            <a:r>
              <a:rPr lang="en-IN" dirty="0"/>
              <a:t>	int </a:t>
            </a:r>
            <a:r>
              <a:rPr lang="en-IN" dirty="0" err="1"/>
              <a:t>arr</a:t>
            </a:r>
            <a:r>
              <a:rPr lang="en-IN" dirty="0"/>
              <a:t>[2][3] = {{1,2,3},{4,5,6}};</a:t>
            </a:r>
          </a:p>
          <a:p>
            <a:pPr marL="457200" lvl="1" indent="0">
              <a:buNone/>
            </a:pPr>
            <a:r>
              <a:rPr lang="en-IN" dirty="0"/>
              <a:t>	int </a:t>
            </a:r>
            <a:r>
              <a:rPr lang="en-IN" dirty="0" err="1"/>
              <a:t>arr</a:t>
            </a:r>
            <a:r>
              <a:rPr lang="en-IN" dirty="0"/>
              <a:t>[2][3] = {1,2,3,4,5,6};</a:t>
            </a:r>
          </a:p>
          <a:p>
            <a:pPr marL="457200" lvl="1" indent="0">
              <a:buNone/>
            </a:pPr>
            <a:r>
              <a:rPr lang="en-IN" dirty="0"/>
              <a:t>	int </a:t>
            </a:r>
            <a:r>
              <a:rPr lang="en-IN" dirty="0" err="1"/>
              <a:t>arr</a:t>
            </a:r>
            <a:r>
              <a:rPr lang="en-IN" dirty="0"/>
              <a:t>[][3] = {1,2,3,4,5,6};</a:t>
            </a:r>
          </a:p>
          <a:p>
            <a:pPr lvl="1"/>
            <a:r>
              <a:rPr lang="en-IN" dirty="0"/>
              <a:t>Partial Array Initialization</a:t>
            </a:r>
          </a:p>
          <a:p>
            <a:pPr marL="457200" lvl="1" indent="0">
              <a:buNone/>
            </a:pPr>
            <a:r>
              <a:rPr lang="en-IN" dirty="0"/>
              <a:t>	int </a:t>
            </a:r>
            <a:r>
              <a:rPr lang="en-IN" dirty="0" err="1"/>
              <a:t>arr</a:t>
            </a:r>
            <a:r>
              <a:rPr lang="en-IN" dirty="0"/>
              <a:t>[2][3] = {1,2,3,4};</a:t>
            </a:r>
          </a:p>
          <a:p>
            <a:pPr marL="457200" lvl="1" indent="0">
              <a:buNone/>
            </a:pPr>
            <a:r>
              <a:rPr lang="en-IN" dirty="0"/>
              <a:t>	int </a:t>
            </a:r>
            <a:r>
              <a:rPr lang="en-IN" dirty="0" err="1"/>
              <a:t>arr</a:t>
            </a:r>
            <a:r>
              <a:rPr lang="en-IN" dirty="0"/>
              <a:t>[2][3] = {{1,2},{4}};</a:t>
            </a:r>
          </a:p>
          <a:p>
            <a:r>
              <a:rPr lang="en-IN" dirty="0"/>
              <a:t>At Run Time</a:t>
            </a:r>
          </a:p>
          <a:p>
            <a:pPr lvl="1"/>
            <a:r>
              <a:rPr lang="en-IN" dirty="0"/>
              <a:t>Using input statement inside 2 loops (one for row, other for column)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6B03A9-ACED-76D6-9744-5DC38C1A3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937" y="2205529"/>
            <a:ext cx="4991797" cy="1238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EDA07A-A2A6-93BC-5F12-7AE68BF10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813" y="3443952"/>
            <a:ext cx="4867954" cy="981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51CB3E-3E56-10A0-C31B-660E2C747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576" y="4425164"/>
            <a:ext cx="4858428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07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EFFE9-AB39-4A45-9511-A455A01CB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2D Array: Reading and Displaying Elements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552ACC-5215-480F-A41F-1624CE4EA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108055"/>
            <a:ext cx="5128813" cy="325365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DD93A6B-7EC3-4B64-8D97-1AE734E56E65}"/>
              </a:ext>
            </a:extLst>
          </p:cNvPr>
          <p:cNvSpPr/>
          <p:nvPr/>
        </p:nvSpPr>
        <p:spPr>
          <a:xfrm>
            <a:off x="5846618" y="1691561"/>
            <a:ext cx="634538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6F008A"/>
                </a:solidFill>
                <a:latin typeface="Consolas" panose="020B0609020204030204" pitchFamily="49" charset="0"/>
              </a:rPr>
              <a:t>ROW_MAX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dirty="0">
                <a:solidFill>
                  <a:srgbClr val="6F008A"/>
                </a:solidFill>
                <a:latin typeface="Consolas" panose="020B0609020204030204" pitchFamily="49" charset="0"/>
              </a:rPr>
              <a:t>COL_MAX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], row, col,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j;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"Enter the size of matrix :"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"\n Rows : 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&gt;&gt;row;</a:t>
            </a:r>
            <a:r>
              <a:rPr lang="en-IN" dirty="0">
                <a:solidFill>
                  <a:srgbClr val="00B050"/>
                </a:solidFill>
                <a:latin typeface="Consolas" panose="020B0609020204030204" pitchFamily="49" charset="0"/>
              </a:rPr>
              <a:t>//4</a:t>
            </a:r>
          </a:p>
          <a:p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"\n Columns : 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&gt;&gt;col;</a:t>
            </a:r>
            <a:r>
              <a:rPr lang="en-IN" dirty="0">
                <a:solidFill>
                  <a:srgbClr val="00B050"/>
                </a:solidFill>
                <a:latin typeface="Consolas" panose="020B0609020204030204" pitchFamily="49" charset="0"/>
              </a:rPr>
              <a:t> //4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"Enter the “&lt;&lt;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row*col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&lt;&lt;“array elements\n"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nn-NO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row; i++)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da-DK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da-DK" dirty="0">
                <a:solidFill>
                  <a:srgbClr val="000000"/>
                </a:solidFill>
                <a:latin typeface="Consolas" panose="020B0609020204030204" pitchFamily="49" charset="0"/>
              </a:rPr>
              <a:t> (j = 0; j &lt; col; j++)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&gt;&gt;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][j];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37335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EFFE9-AB39-4A45-9511-A455A01CB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2D Array: Reading and Displaying Elements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552ACC-5215-480F-A41F-1624CE4EA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99" y="2108055"/>
            <a:ext cx="5128813" cy="325365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53D4628-EFA5-46D6-9965-5A503E6B0D7C}"/>
              </a:ext>
            </a:extLst>
          </p:cNvPr>
          <p:cNvSpPr/>
          <p:nvPr/>
        </p:nvSpPr>
        <p:spPr>
          <a:xfrm>
            <a:off x="6733309" y="2260982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6F008A"/>
                </a:solidFill>
                <a:latin typeface="Consolas" panose="020B0609020204030204" pitchFamily="49" charset="0"/>
              </a:rPr>
              <a:t>ROW_MAX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dirty="0">
                <a:solidFill>
                  <a:srgbClr val="6F008A"/>
                </a:solidFill>
                <a:latin typeface="Consolas" panose="020B0609020204030204" pitchFamily="49" charset="0"/>
              </a:rPr>
              <a:t>COL_MAX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], row, col,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j;</a:t>
            </a:r>
            <a:endParaRPr lang="nn-NO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nn-NO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row; i++)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da-DK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da-DK" dirty="0">
                <a:solidFill>
                  <a:srgbClr val="000000"/>
                </a:solidFill>
                <a:latin typeface="Consolas" panose="020B0609020204030204" pitchFamily="49" charset="0"/>
              </a:rPr>
              <a:t> (j = 0; j &lt; col; j++)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"%d 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][j];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377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BE1F6-03D4-435F-8ED6-CE5E7526A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Programs With 2D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DB159-E654-446F-80EC-B9E9B0D65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Matrix Addition</a:t>
            </a:r>
          </a:p>
          <a:p>
            <a:endParaRPr lang="en-IN" dirty="0"/>
          </a:p>
          <a:p>
            <a:r>
              <a:rPr lang="en-IN" dirty="0"/>
              <a:t>Matrix Multiplication</a:t>
            </a:r>
          </a:p>
          <a:p>
            <a:endParaRPr lang="en-IN" dirty="0"/>
          </a:p>
          <a:p>
            <a:r>
              <a:rPr lang="en-IN" dirty="0"/>
              <a:t>Matrix Transpose</a:t>
            </a:r>
          </a:p>
        </p:txBody>
      </p:sp>
    </p:spTree>
    <p:extLst>
      <p:ext uri="{BB962C8B-B14F-4D97-AF65-F5344CB8AC3E}">
        <p14:creationId xmlns:p14="http://schemas.microsoft.com/office/powerpoint/2010/main" val="1888551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5B71F-185E-41C1-9838-FDF7E84AE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Matrix Addition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229845-4AE3-40B7-8995-CA0E70F74D59}"/>
              </a:ext>
            </a:extLst>
          </p:cNvPr>
          <p:cNvSpPr/>
          <p:nvPr/>
        </p:nvSpPr>
        <p:spPr>
          <a:xfrm>
            <a:off x="5444838" y="2016135"/>
            <a:ext cx="665018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(row1 != row2 || col1 != col2)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"Matrix Addition Not Possible!"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row1; i++)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da-DK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da-DK" dirty="0">
                <a:solidFill>
                  <a:srgbClr val="000000"/>
                </a:solidFill>
                <a:latin typeface="Consolas" panose="020B0609020204030204" pitchFamily="49" charset="0"/>
              </a:rPr>
              <a:t> (j = 0; j &lt; col1; j++)</a:t>
            </a:r>
          </a:p>
          <a:p>
            <a:pPr lvl="2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3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matadd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][j] = mat1[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][j] + mat2[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][j];</a:t>
            </a:r>
          </a:p>
          <a:p>
            <a:pPr lvl="2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811CEB-FCB2-4099-8FED-AA8A539E0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55042"/>
          <a:stretch/>
        </p:blipFill>
        <p:spPr>
          <a:xfrm>
            <a:off x="401783" y="1418071"/>
            <a:ext cx="4294908" cy="2466274"/>
          </a:xfrm>
          <a:prstGeom prst="rect">
            <a:avLst/>
          </a:prstGeom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C23F285B-CA71-4DAD-8F7D-69B8FC46FC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505"/>
          <a:stretch/>
        </p:blipFill>
        <p:spPr>
          <a:xfrm>
            <a:off x="246229" y="3742076"/>
            <a:ext cx="4824535" cy="224437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8454A6-595A-4635-B9E1-0F5A6B6481BD}"/>
              </a:ext>
            </a:extLst>
          </p:cNvPr>
          <p:cNvCxnSpPr/>
          <p:nvPr/>
        </p:nvCxnSpPr>
        <p:spPr>
          <a:xfrm>
            <a:off x="5250873" y="1690688"/>
            <a:ext cx="0" cy="4530003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7106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5B71F-185E-41C1-9838-FDF7E84AE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49708"/>
          </a:xfrm>
        </p:spPr>
        <p:txBody>
          <a:bodyPr/>
          <a:lstStyle/>
          <a:p>
            <a:r>
              <a:rPr lang="en-IN" dirty="0"/>
              <a:t>Matrix Multiplication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69A37F-BBC4-4C27-9D82-73C6FB043449}"/>
              </a:ext>
            </a:extLst>
          </p:cNvPr>
          <p:cNvSpPr/>
          <p:nvPr/>
        </p:nvSpPr>
        <p:spPr>
          <a:xfrm>
            <a:off x="5189394" y="3572397"/>
            <a:ext cx="755583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row1; i++)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da-DK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da-DK" dirty="0">
                <a:solidFill>
                  <a:srgbClr val="000000"/>
                </a:solidFill>
                <a:latin typeface="Consolas" panose="020B0609020204030204" pitchFamily="49" charset="0"/>
              </a:rPr>
              <a:t> (j = 0; j &lt; col2; j++)</a:t>
            </a:r>
          </a:p>
          <a:p>
            <a:pPr lvl="2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3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matmul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][j] = 0;</a:t>
            </a:r>
          </a:p>
          <a:p>
            <a:pPr lvl="3"/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(k = 0; k &lt; col1; k++)</a:t>
            </a:r>
          </a:p>
          <a:p>
            <a:pPr lvl="3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4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matmul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][j] += mat1[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][k] * mat2[k][j];</a:t>
            </a:r>
          </a:p>
          <a:p>
            <a:pPr lvl="3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3DA871D-E961-400D-8A66-AC6755A3CFAF}"/>
              </a:ext>
            </a:extLst>
          </p:cNvPr>
          <p:cNvCxnSpPr/>
          <p:nvPr/>
        </p:nvCxnSpPr>
        <p:spPr>
          <a:xfrm>
            <a:off x="802105" y="3460103"/>
            <a:ext cx="10780294" cy="0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5A0FA3BE-6A9C-4097-A8FB-E79339C9D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076" y="1105855"/>
            <a:ext cx="5375260" cy="11030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DF17023-1C32-4C2E-A7F3-008F4D1CA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21" y="2265068"/>
            <a:ext cx="11795414" cy="92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8769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5B71F-185E-41C1-9838-FDF7E84AE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Matrix Transpose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8454A6-595A-4635-B9E1-0F5A6B6481BD}"/>
              </a:ext>
            </a:extLst>
          </p:cNvPr>
          <p:cNvCxnSpPr/>
          <p:nvPr/>
        </p:nvCxnSpPr>
        <p:spPr>
          <a:xfrm>
            <a:off x="5748179" y="1690688"/>
            <a:ext cx="0" cy="4530003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9989A35-40F3-4C34-88F5-C483257A5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59" y="1705841"/>
            <a:ext cx="5191125" cy="45148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6F3E08-8B20-4A78-A42A-29D162D52299}"/>
              </a:ext>
            </a:extLst>
          </p:cNvPr>
          <p:cNvSpPr/>
          <p:nvPr/>
        </p:nvSpPr>
        <p:spPr>
          <a:xfrm>
            <a:off x="5953441" y="1705841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(i = 0; i &lt; col; i++)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(j = 0; j &lt; row;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mattrans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][j] = mat[j][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6544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EC6F8-D1D8-4E1A-AB00-A6A63670A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Sparse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B472F-554A-4248-9684-DF884CB6C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84495" cy="4351338"/>
          </a:xfrm>
        </p:spPr>
        <p:txBody>
          <a:bodyPr/>
          <a:lstStyle/>
          <a:p>
            <a:r>
              <a:rPr lang="en-IN" dirty="0"/>
              <a:t>matrix where maximum elements are zero (0)</a:t>
            </a:r>
          </a:p>
          <a:p>
            <a:r>
              <a:rPr lang="en-IN" dirty="0"/>
              <a:t>representing such matrix as a normal array representation in form of rows and columns involves wastage of memory as maximum memory is used storing non essential information.</a:t>
            </a:r>
          </a:p>
          <a:p>
            <a:r>
              <a:rPr lang="en-IN" dirty="0"/>
              <a:t>This kind of matrix can be representation in a different manner using array</a:t>
            </a:r>
          </a:p>
        </p:txBody>
      </p:sp>
      <p:pic>
        <p:nvPicPr>
          <p:cNvPr id="6146" name="Picture 2" descr="Sparse Matrix and its representations | Set 1 (Using Arrays and Linked  Lists) - GeeksforGeeks">
            <a:extLst>
              <a:ext uri="{FF2B5EF4-FFF2-40B4-BE49-F238E27FC236}">
                <a16:creationId xmlns:a16="http://schemas.microsoft.com/office/drawing/2014/main" id="{6AF79FB0-F255-4585-93DA-1B03719122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591"/>
          <a:stretch/>
        </p:blipFill>
        <p:spPr bwMode="auto">
          <a:xfrm>
            <a:off x="8828172" y="773727"/>
            <a:ext cx="2272966" cy="2655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1EB710-FD1F-467F-A42F-8B5458CAF593}"/>
              </a:ext>
            </a:extLst>
          </p:cNvPr>
          <p:cNvSpPr txBox="1"/>
          <p:nvPr/>
        </p:nvSpPr>
        <p:spPr>
          <a:xfrm>
            <a:off x="7828546" y="3785937"/>
            <a:ext cx="40426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/>
              <a:t>Using Normal Matrix Representation</a:t>
            </a:r>
          </a:p>
          <a:p>
            <a:endParaRPr lang="en-IN" dirty="0"/>
          </a:p>
          <a:p>
            <a:r>
              <a:rPr lang="en-IN" b="1" dirty="0"/>
              <a:t>Total Memory Assigned: </a:t>
            </a:r>
            <a:r>
              <a:rPr lang="en-IN" dirty="0"/>
              <a:t>4*5* </a:t>
            </a:r>
            <a:r>
              <a:rPr lang="en-IN" dirty="0" err="1"/>
              <a:t>sizeof</a:t>
            </a:r>
            <a:r>
              <a:rPr lang="en-IN" dirty="0"/>
              <a:t>(int) 		        = 4*5*2 = </a:t>
            </a:r>
            <a:r>
              <a:rPr lang="en-IN" b="1" dirty="0"/>
              <a:t>40B</a:t>
            </a:r>
          </a:p>
          <a:p>
            <a:r>
              <a:rPr lang="en-IN" b="1" dirty="0"/>
              <a:t>Useful Data Space:</a:t>
            </a:r>
            <a:r>
              <a:rPr lang="en-IN" dirty="0"/>
              <a:t> 6*2 = </a:t>
            </a:r>
            <a:r>
              <a:rPr lang="en-IN" b="1" dirty="0"/>
              <a:t>12B</a:t>
            </a:r>
          </a:p>
          <a:p>
            <a:r>
              <a:rPr lang="en-IN" b="1" dirty="0"/>
              <a:t>Space Wasted</a:t>
            </a:r>
            <a:r>
              <a:rPr lang="en-IN" dirty="0"/>
              <a:t>: 40B – 12B = </a:t>
            </a:r>
            <a:r>
              <a:rPr lang="en-IN" b="1" dirty="0"/>
              <a:t>38B</a:t>
            </a:r>
          </a:p>
        </p:txBody>
      </p:sp>
    </p:spTree>
    <p:extLst>
      <p:ext uri="{BB962C8B-B14F-4D97-AF65-F5344CB8AC3E}">
        <p14:creationId xmlns:p14="http://schemas.microsoft.com/office/powerpoint/2010/main" val="8522510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6F60A-4FEF-49E9-BA43-97EBE81EF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Sparse Matrix Representation</a:t>
            </a:r>
          </a:p>
        </p:txBody>
      </p:sp>
      <p:pic>
        <p:nvPicPr>
          <p:cNvPr id="9218" name="Picture 2" descr="Sparse Matrix Array Representation">
            <a:extLst>
              <a:ext uri="{FF2B5EF4-FFF2-40B4-BE49-F238E27FC236}">
                <a16:creationId xmlns:a16="http://schemas.microsoft.com/office/drawing/2014/main" id="{619D5EC0-84F7-4347-A61E-D0CC31FCE2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087" y="2004646"/>
            <a:ext cx="10377713" cy="3201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775639-B25A-4729-8137-EE380D0F0C1C}"/>
              </a:ext>
            </a:extLst>
          </p:cNvPr>
          <p:cNvSpPr txBox="1"/>
          <p:nvPr/>
        </p:nvSpPr>
        <p:spPr>
          <a:xfrm>
            <a:off x="930368" y="5406188"/>
            <a:ext cx="10423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Representation of Sparse Matrix as Array consisting of 3 rows and multiple columns equal to number of non-zero elements</a:t>
            </a:r>
          </a:p>
        </p:txBody>
      </p:sp>
    </p:spTree>
    <p:extLst>
      <p:ext uri="{BB962C8B-B14F-4D97-AF65-F5344CB8AC3E}">
        <p14:creationId xmlns:p14="http://schemas.microsoft.com/office/powerpoint/2010/main" val="4237913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2055</Words>
  <Application>Microsoft Office PowerPoint</Application>
  <PresentationFormat>Widescreen</PresentationFormat>
  <Paragraphs>313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Consolas</vt:lpstr>
      <vt:lpstr>Office Theme</vt:lpstr>
      <vt:lpstr>C++ Programming</vt:lpstr>
      <vt:lpstr>Data Types in C++</vt:lpstr>
      <vt:lpstr>PowerPoint Presentation</vt:lpstr>
      <vt:lpstr>Array</vt:lpstr>
      <vt:lpstr>Arrays</vt:lpstr>
      <vt:lpstr>Use Cases For Array</vt:lpstr>
      <vt:lpstr>Types of Array</vt:lpstr>
      <vt:lpstr>Single Dimensional Array</vt:lpstr>
      <vt:lpstr>Array Declaration : 1D Array</vt:lpstr>
      <vt:lpstr>Storage  &amp; Access of Array : 1D Array</vt:lpstr>
      <vt:lpstr>Initialization (Storing Values) of Array: 1D Array</vt:lpstr>
      <vt:lpstr>Operations With Array</vt:lpstr>
      <vt:lpstr>Read &amp; Display Array : 1D Array</vt:lpstr>
      <vt:lpstr>Inserting Element in Array</vt:lpstr>
      <vt:lpstr>Deleting Element From Array : 1D Array</vt:lpstr>
      <vt:lpstr>Searching Element in 1D Array</vt:lpstr>
      <vt:lpstr>Linear Search</vt:lpstr>
      <vt:lpstr>Binary Search</vt:lpstr>
      <vt:lpstr>Bubble Sort : 1D Array</vt:lpstr>
      <vt:lpstr>Array</vt:lpstr>
      <vt:lpstr>Two Dimensional Array</vt:lpstr>
      <vt:lpstr>2D Array : Declaration</vt:lpstr>
      <vt:lpstr>2D Array Representation</vt:lpstr>
      <vt:lpstr>2D Array Storage</vt:lpstr>
      <vt:lpstr>2D Array: Initialization</vt:lpstr>
      <vt:lpstr>2D Array: Reading and Displaying Elements</vt:lpstr>
      <vt:lpstr>2D Array: Reading and Displaying Elements</vt:lpstr>
      <vt:lpstr>Example Programs With 2D Array</vt:lpstr>
      <vt:lpstr>Matrix Addition</vt:lpstr>
      <vt:lpstr>Matrix Multiplication</vt:lpstr>
      <vt:lpstr>Matrix Transpose</vt:lpstr>
      <vt:lpstr>Sparse Matrix</vt:lpstr>
      <vt:lpstr>Sparse Matrix Representation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Priyanka Sinha</dc:creator>
  <cp:lastModifiedBy>Priyanka Sinha</cp:lastModifiedBy>
  <cp:revision>40</cp:revision>
  <dcterms:created xsi:type="dcterms:W3CDTF">2025-03-27T04:57:18Z</dcterms:created>
  <dcterms:modified xsi:type="dcterms:W3CDTF">2025-11-18T03:12:34Z</dcterms:modified>
</cp:coreProperties>
</file>